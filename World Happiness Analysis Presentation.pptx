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E559F26-05E9-494F-AAA9-5D90BE1826B7}">
          <p14:sldIdLst>
            <p14:sldId id="256"/>
            <p14:sldId id="257"/>
            <p14:sldId id="258"/>
            <p14:sldId id="259"/>
            <p14:sldId id="260"/>
            <p14:sldId id="261"/>
            <p14:sldId id="262"/>
            <p14:sldId id="263"/>
            <p14:sldId id="264"/>
            <p14:sldId id="265"/>
            <p14:sldId id="266"/>
            <p14:sldId id="267"/>
            <p14:sldId id="268"/>
            <p14:sldId id="269"/>
            <p14:sldId id="270"/>
            <p14:sldId id="271"/>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9" autoAdjust="0"/>
    <p:restoredTop sz="90399" autoAdjust="0"/>
  </p:normalViewPr>
  <p:slideViewPr>
    <p:cSldViewPr snapToGrid="0">
      <p:cViewPr varScale="1">
        <p:scale>
          <a:sx n="102" d="100"/>
          <a:sy n="102" d="100"/>
        </p:scale>
        <p:origin x="108" y="9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jess\Desktop\DATA%20ANALYST%20COURSE\SQL\SQL%20projects\project%202%20live%20sessions%20-\excel%20-%20SQL%20queries%20and%20visualization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jess\Desktop\DATA%20ANALYST%20COURSE\SQL\SQL%20projects\project%202%20live%20sessions%20-\excel%20-%20SQL%20queries%20and%20visualization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jess\Desktop\DATA%20ANALYST%20COURSE\SQL\SQL%20projects\project%202%20live%20sessions%20-\excel%20-%20SQL%20queries%20and%20visualization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jess\Desktop\DATA%20ANALYST%20COURSE\SQL\SQL%20projects\project%202%20live%20sessions%20-\excel%20-%20SQL%20queries%20and%20visualization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jess\Desktop\DATA%20ANALYST%20COURSE\SQL\SQL%20projects\project%202%20live%20sessions%20-\excel%20-%20SQL%20queries%20and%20visualization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jess\Desktop\DATA%20ANALYST%20COURSE\SQL\SQL%20projects\project%202%20live%20sessions%20-\excel%20-%20SQL%20queries%20and%20visualization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jess\Desktop\DATA%20ANALYST%20COURSE\SQL\SQL%20projects\project%202%20live%20sessions%20-\excel%20-%20SQL%20queries%20and%20visualization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jess\Desktop\DATA%20ANALYST%20COURSE\SQL\SQL%20projects\project%202%20live%20sessions%20-\excel%20-%20SQL%20queries%20and%20visualization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jess\Desktop\DATA%20ANALYST%20COURSE\SQL\SQL%20projects\project%202%20live%20sessions%20-\excel%20-%20SQL%20queries%20and%20visualizations.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jess\Desktop\DATA%20ANALYST%20COURSE\SQL\SQL%20projects\project%202%20live%20sessions%20-\excel%20-%20SQL%20queries%20and%20visualizations.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ysClr val="windowText" lastClr="000000"/>
                </a:solidFill>
                <a:latin typeface="Aptos Display" panose="020B0004020202020204" pitchFamily="34" charset="0"/>
                <a:ea typeface="+mn-ea"/>
                <a:cs typeface="+mn-cs"/>
              </a:defRPr>
            </a:pPr>
            <a:r>
              <a:rPr lang="en-GB" b="1">
                <a:solidFill>
                  <a:sysClr val="windowText" lastClr="000000"/>
                </a:solidFill>
                <a:latin typeface="Aptos Display" panose="020B0004020202020204" pitchFamily="34" charset="0"/>
              </a:rPr>
              <a:t>Top</a:t>
            </a:r>
            <a:r>
              <a:rPr lang="en-GB" b="1" baseline="0">
                <a:solidFill>
                  <a:sysClr val="windowText" lastClr="000000"/>
                </a:solidFill>
                <a:latin typeface="Aptos Display" panose="020B0004020202020204" pitchFamily="34" charset="0"/>
              </a:rPr>
              <a:t> 10 Happiest Countries</a:t>
            </a:r>
            <a:endParaRPr lang="en-GB" b="1">
              <a:solidFill>
                <a:sysClr val="windowText" lastClr="000000"/>
              </a:solidFill>
              <a:latin typeface="Aptos Display" panose="020B0004020202020204" pitchFamily="34" charset="0"/>
            </a:endParaRPr>
          </a:p>
        </c:rich>
      </c:tx>
      <c:layout>
        <c:manualLayout>
          <c:xMode val="edge"/>
          <c:yMode val="edge"/>
          <c:x val="0.31577041904338859"/>
          <c:y val="2.4185585318036103E-2"/>
        </c:manualLayout>
      </c:layout>
      <c:overlay val="0"/>
      <c:spPr>
        <a:solidFill>
          <a:sysClr val="window" lastClr="FFFFFF"/>
        </a:solidFill>
        <a:ln>
          <a:noFill/>
        </a:ln>
        <a:effectLst/>
      </c:spPr>
      <c:txPr>
        <a:bodyPr rot="0" spcFirstLastPara="1" vertOverflow="ellipsis" vert="horz" wrap="square" anchor="ctr" anchorCtr="1"/>
        <a:lstStyle/>
        <a:p>
          <a:pPr>
            <a:defRPr sz="1400" b="1" i="0" u="none" strike="noStrike" kern="1200" spc="0" baseline="0">
              <a:solidFill>
                <a:sysClr val="windowText" lastClr="000000"/>
              </a:solidFill>
              <a:latin typeface="Aptos Display" panose="020B0004020202020204" pitchFamily="34" charset="0"/>
              <a:ea typeface="+mn-ea"/>
              <a:cs typeface="+mn-cs"/>
            </a:defRPr>
          </a:pPr>
          <a:endParaRPr lang="en-GB"/>
        </a:p>
      </c:txPr>
    </c:title>
    <c:autoTitleDeleted val="0"/>
    <c:plotArea>
      <c:layout>
        <c:manualLayout>
          <c:layoutTarget val="inner"/>
          <c:xMode val="edge"/>
          <c:yMode val="edge"/>
          <c:x val="0.15359031723933703"/>
          <c:y val="8.6369714379180063E-2"/>
          <c:w val="0.80907623386402172"/>
          <c:h val="0.80204064403940933"/>
        </c:manualLayout>
      </c:layout>
      <c:barChart>
        <c:barDir val="bar"/>
        <c:grouping val="clustered"/>
        <c:varyColors val="0"/>
        <c:ser>
          <c:idx val="0"/>
          <c:order val="0"/>
          <c:spPr>
            <a:solidFill>
              <a:schemeClr val="accent1"/>
            </a:solidFill>
            <a:ln>
              <a:noFill/>
            </a:ln>
            <a:effectLst/>
          </c:spPr>
          <c:invertIfNegative val="0"/>
          <c:dLbls>
            <c:dLbl>
              <c:idx val="0"/>
              <c:layout>
                <c:manualLayout>
                  <c:x val="-0.33251536179440933"/>
                  <c:y val="-1.7549753081081522E-1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504-433C-BFB1-D73D42F64009}"/>
                </c:ext>
              </c:extLst>
            </c:dLbl>
            <c:dLbl>
              <c:idx val="1"/>
              <c:layout>
                <c:manualLayout>
                  <c:x val="-0.32563573361935261"/>
                  <c:y val="-2.393175793271909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504-433C-BFB1-D73D42F64009}"/>
                </c:ext>
              </c:extLst>
            </c:dLbl>
            <c:dLbl>
              <c:idx val="2"/>
              <c:layout>
                <c:manualLayout>
                  <c:x val="-0.33022215240272379"/>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504-433C-BFB1-D73D42F64009}"/>
                </c:ext>
              </c:extLst>
            </c:dLbl>
            <c:dLbl>
              <c:idx val="3"/>
              <c:layout>
                <c:manualLayout>
                  <c:x val="-0.34168819936115158"/>
                  <c:y val="-8.7748765405407609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504-433C-BFB1-D73D42F64009}"/>
                </c:ext>
              </c:extLst>
            </c:dLbl>
            <c:dLbl>
              <c:idx val="4"/>
              <c:layout>
                <c:manualLayout>
                  <c:x val="-0.35086103692789389"/>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504-433C-BFB1-D73D42F64009}"/>
                </c:ext>
              </c:extLst>
            </c:dLbl>
            <c:dLbl>
              <c:idx val="5"/>
              <c:layout>
                <c:manualLayout>
                  <c:x val="-0.34168819936115169"/>
                  <c:y val="-2.393175793271821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504-433C-BFB1-D73D42F64009}"/>
                </c:ext>
              </c:extLst>
            </c:dLbl>
            <c:dLbl>
              <c:idx val="6"/>
              <c:layout>
                <c:manualLayout>
                  <c:x val="-0.35774066510295066"/>
                  <c:y val="-2.393175793271865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504-433C-BFB1-D73D42F64009}"/>
                </c:ext>
              </c:extLst>
            </c:dLbl>
            <c:dLbl>
              <c:idx val="7"/>
              <c:layout>
                <c:manualLayout>
                  <c:x val="-0.35315424631957948"/>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504-433C-BFB1-D73D42F64009}"/>
                </c:ext>
              </c:extLst>
            </c:dLbl>
            <c:dLbl>
              <c:idx val="8"/>
              <c:layout>
                <c:manualLayout>
                  <c:x val="-0.35086103692789389"/>
                  <c:y val="2.393175793271821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504-433C-BFB1-D73D42F64009}"/>
                </c:ext>
              </c:extLst>
            </c:dLbl>
            <c:dLbl>
              <c:idx val="9"/>
              <c:layout>
                <c:manualLayout>
                  <c:x val="-0.36462029327800738"/>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504-433C-BFB1-D73D42F64009}"/>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Display" panose="020B00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'2'!$A$3:$A$12</c:f>
              <c:strCache>
                <c:ptCount val="10"/>
                <c:pt idx="0">
                  <c:v>Austria</c:v>
                </c:pt>
                <c:pt idx="1">
                  <c:v>Canada</c:v>
                </c:pt>
                <c:pt idx="2">
                  <c:v>New Zealand</c:v>
                </c:pt>
                <c:pt idx="3">
                  <c:v>Sweden</c:v>
                </c:pt>
                <c:pt idx="4">
                  <c:v>Switzerland</c:v>
                </c:pt>
                <c:pt idx="5">
                  <c:v>Iceland</c:v>
                </c:pt>
                <c:pt idx="6">
                  <c:v>Netherlands</c:v>
                </c:pt>
                <c:pt idx="7">
                  <c:v>Norway</c:v>
                </c:pt>
                <c:pt idx="8">
                  <c:v>Denmark</c:v>
                </c:pt>
                <c:pt idx="9">
                  <c:v>Finland</c:v>
                </c:pt>
              </c:strCache>
            </c:strRef>
          </c:cat>
          <c:val>
            <c:numRef>
              <c:f>'2'!$B$3:$B$12</c:f>
              <c:numCache>
                <c:formatCode>General</c:formatCode>
                <c:ptCount val="10"/>
                <c:pt idx="0">
                  <c:v>7.25</c:v>
                </c:pt>
                <c:pt idx="1">
                  <c:v>7.28</c:v>
                </c:pt>
                <c:pt idx="2">
                  <c:v>7.31</c:v>
                </c:pt>
                <c:pt idx="3">
                  <c:v>7.34</c:v>
                </c:pt>
                <c:pt idx="4">
                  <c:v>7.48</c:v>
                </c:pt>
                <c:pt idx="5">
                  <c:v>7.49</c:v>
                </c:pt>
                <c:pt idx="6">
                  <c:v>7.49</c:v>
                </c:pt>
                <c:pt idx="7">
                  <c:v>7.55</c:v>
                </c:pt>
                <c:pt idx="8">
                  <c:v>7.6</c:v>
                </c:pt>
                <c:pt idx="9">
                  <c:v>7.77</c:v>
                </c:pt>
              </c:numCache>
            </c:numRef>
          </c:val>
          <c:extLst>
            <c:ext xmlns:c16="http://schemas.microsoft.com/office/drawing/2014/chart" uri="{C3380CC4-5D6E-409C-BE32-E72D297353CC}">
              <c16:uniqueId val="{00000000-7504-433C-BFB1-D73D42F64009}"/>
            </c:ext>
          </c:extLst>
        </c:ser>
        <c:dLbls>
          <c:showLegendKey val="0"/>
          <c:showVal val="0"/>
          <c:showCatName val="0"/>
          <c:showSerName val="0"/>
          <c:showPercent val="0"/>
          <c:showBubbleSize val="0"/>
        </c:dLbls>
        <c:gapWidth val="182"/>
        <c:axId val="825200895"/>
        <c:axId val="826454511"/>
      </c:barChart>
      <c:catAx>
        <c:axId val="82520089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ysClr val="windowText" lastClr="000000"/>
                </a:solidFill>
                <a:latin typeface="Aptos Display" panose="020B0004020202020204" pitchFamily="34" charset="0"/>
                <a:ea typeface="+mn-ea"/>
                <a:cs typeface="+mn-cs"/>
              </a:defRPr>
            </a:pPr>
            <a:endParaRPr lang="en-US"/>
          </a:p>
        </c:txPr>
        <c:crossAx val="826454511"/>
        <c:crosses val="autoZero"/>
        <c:auto val="1"/>
        <c:lblAlgn val="ctr"/>
        <c:lblOffset val="100"/>
        <c:noMultiLvlLbl val="0"/>
      </c:catAx>
      <c:valAx>
        <c:axId val="826454511"/>
        <c:scaling>
          <c:orientation val="minMax"/>
          <c:max val="8"/>
          <c:min val="0"/>
        </c:scaling>
        <c:delete val="0"/>
        <c:axPos val="b"/>
        <c:title>
          <c:tx>
            <c:rich>
              <a:bodyPr rot="0" spcFirstLastPara="1" vertOverflow="ellipsis" vert="horz" wrap="square" anchor="ctr" anchorCtr="1"/>
              <a:lstStyle/>
              <a:p>
                <a:pPr>
                  <a:defRPr sz="1100" b="1" i="0" u="none" strike="noStrike" kern="1200" baseline="0">
                    <a:solidFill>
                      <a:sysClr val="windowText" lastClr="000000"/>
                    </a:solidFill>
                    <a:latin typeface="Aptos Display" panose="020B0004020202020204" pitchFamily="34" charset="0"/>
                    <a:ea typeface="+mn-ea"/>
                    <a:cs typeface="+mn-cs"/>
                  </a:defRPr>
                </a:pPr>
                <a:r>
                  <a:rPr lang="en-GB" sz="1100" b="1">
                    <a:solidFill>
                      <a:sysClr val="windowText" lastClr="000000"/>
                    </a:solidFill>
                    <a:latin typeface="Aptos Display" panose="020B0004020202020204" pitchFamily="34" charset="0"/>
                  </a:rPr>
                  <a:t>Happiness</a:t>
                </a:r>
                <a:r>
                  <a:rPr lang="en-GB" sz="1100" b="1" baseline="0">
                    <a:solidFill>
                      <a:sysClr val="windowText" lastClr="000000"/>
                    </a:solidFill>
                    <a:latin typeface="Aptos Display" panose="020B0004020202020204" pitchFamily="34" charset="0"/>
                  </a:rPr>
                  <a:t> Score</a:t>
                </a:r>
                <a:endParaRPr lang="en-GB" sz="1100" b="1">
                  <a:solidFill>
                    <a:sysClr val="windowText" lastClr="000000"/>
                  </a:solidFill>
                  <a:latin typeface="Aptos Display" panose="020B0004020202020204" pitchFamily="34" charset="0"/>
                </a:endParaRPr>
              </a:p>
            </c:rich>
          </c:tx>
          <c:layout>
            <c:manualLayout>
              <c:xMode val="edge"/>
              <c:yMode val="edge"/>
              <c:x val="0.42615992156140475"/>
              <c:y val="0.93177055813382048"/>
            </c:manualLayout>
          </c:layout>
          <c:overlay val="0"/>
          <c:spPr>
            <a:noFill/>
            <a:ln>
              <a:noFill/>
            </a:ln>
            <a:effectLst/>
          </c:spPr>
          <c:txPr>
            <a:bodyPr rot="0" spcFirstLastPara="1" vertOverflow="ellipsis" vert="horz" wrap="square" anchor="ctr" anchorCtr="1"/>
            <a:lstStyle/>
            <a:p>
              <a:pPr>
                <a:defRPr sz="1100" b="1" i="0" u="none" strike="noStrike" kern="1200" baseline="0">
                  <a:solidFill>
                    <a:sysClr val="windowText" lastClr="000000"/>
                  </a:solidFill>
                  <a:latin typeface="Aptos Display" panose="020B0004020202020204" pitchFamily="34" charset="0"/>
                  <a:ea typeface="+mn-ea"/>
                  <a:cs typeface="+mn-cs"/>
                </a:defRPr>
              </a:pPr>
              <a:endParaRPr lang="en-GB"/>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ptos Display" panose="020B0004020202020204" pitchFamily="34" charset="0"/>
                <a:ea typeface="+mn-ea"/>
                <a:cs typeface="+mn-cs"/>
              </a:defRPr>
            </a:pPr>
            <a:endParaRPr lang="en-US"/>
          </a:p>
        </c:txPr>
        <c:crossAx val="825200895"/>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GB" sz="1400" b="1" i="0" u="none" strike="noStrike" kern="1200" spc="0" baseline="0">
                <a:solidFill>
                  <a:schemeClr val="tx1"/>
                </a:solidFill>
                <a:latin typeface="Aptos Display" panose="020B0004020202020204" pitchFamily="34" charset="0"/>
                <a:ea typeface="+mn-ea"/>
                <a:cs typeface="+mn-cs"/>
              </a:defRPr>
            </a:pPr>
            <a:r>
              <a:rPr lang="en-GB" sz="1400" b="1" i="0" u="none" strike="noStrike" kern="1200" baseline="0">
                <a:solidFill>
                  <a:schemeClr val="tx1"/>
                </a:solidFill>
                <a:latin typeface="Aptos Display" panose="020B0004020202020204" pitchFamily="34" charset="0"/>
                <a:ea typeface="+mn-ea"/>
                <a:cs typeface="+mn-cs"/>
              </a:rPr>
              <a:t>Top 10 Less Happy Countries</a:t>
            </a:r>
          </a:p>
        </c:rich>
      </c:tx>
      <c:layout>
        <c:manualLayout>
          <c:xMode val="edge"/>
          <c:yMode val="edge"/>
          <c:x val="0.39373117702251298"/>
          <c:y val="2.7295784584473955E-2"/>
        </c:manualLayout>
      </c:layout>
      <c:overlay val="0"/>
      <c:spPr>
        <a:noFill/>
        <a:ln>
          <a:noFill/>
        </a:ln>
        <a:effectLst/>
      </c:spPr>
      <c:txPr>
        <a:bodyPr rot="0" spcFirstLastPara="1" vertOverflow="ellipsis" vert="horz" wrap="square" anchor="ctr" anchorCtr="1"/>
        <a:lstStyle/>
        <a:p>
          <a:pPr>
            <a:defRPr lang="en-GB" sz="1400" b="1" i="0" u="none" strike="noStrike" kern="1200" spc="0" baseline="0">
              <a:solidFill>
                <a:schemeClr val="tx1"/>
              </a:solidFill>
              <a:latin typeface="Aptos Display" panose="020B0004020202020204" pitchFamily="34" charset="0"/>
              <a:ea typeface="+mn-ea"/>
              <a:cs typeface="+mn-cs"/>
            </a:defRPr>
          </a:pPr>
          <a:endParaRPr lang="en-US"/>
        </a:p>
      </c:txPr>
    </c:title>
    <c:autoTitleDeleted val="0"/>
    <c:plotArea>
      <c:layout/>
      <c:barChart>
        <c:barDir val="bar"/>
        <c:grouping val="clustered"/>
        <c:varyColors val="0"/>
        <c:ser>
          <c:idx val="0"/>
          <c:order val="0"/>
          <c:spPr>
            <a:solidFill>
              <a:srgbClr val="92D050"/>
            </a:solidFill>
            <a:ln>
              <a:noFill/>
            </a:ln>
            <a:effectLst/>
          </c:spPr>
          <c:invertIfNegative val="0"/>
          <c:dLbls>
            <c:dLbl>
              <c:idx val="0"/>
              <c:layout>
                <c:manualLayout>
                  <c:x val="-0.22048038699301098"/>
                  <c:y val="2.433411234427187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D5D4-479C-A810-6AE9CD848A6C}"/>
                </c:ext>
              </c:extLst>
            </c:dLbl>
            <c:dLbl>
              <c:idx val="1"/>
              <c:layout>
                <c:manualLayout>
                  <c:x val="-0.25284448049657232"/>
                  <c:y val="-2.433411234427454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D5D4-479C-A810-6AE9CD848A6C}"/>
                </c:ext>
              </c:extLst>
            </c:dLbl>
            <c:dLbl>
              <c:idx val="2"/>
              <c:layout>
                <c:manualLayout>
                  <c:x val="-0.26700377140438036"/>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D5D4-479C-A810-6AE9CD848A6C}"/>
                </c:ext>
              </c:extLst>
            </c:dLbl>
            <c:dLbl>
              <c:idx val="3"/>
              <c:layout>
                <c:manualLayout>
                  <c:x val="-0.2791403064682158"/>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5D4-479C-A810-6AE9CD848A6C}"/>
                </c:ext>
              </c:extLst>
            </c:dLbl>
            <c:dLbl>
              <c:idx val="4"/>
              <c:layout>
                <c:manualLayout>
                  <c:x val="-0.30139062075191408"/>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5D4-479C-A810-6AE9CD848A6C}"/>
                </c:ext>
              </c:extLst>
            </c:dLbl>
            <c:dLbl>
              <c:idx val="5"/>
              <c:layout>
                <c:manualLayout>
                  <c:x val="-0.2912768415320513"/>
                  <c:y val="-8.9224047871855272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5D4-479C-A810-6AE9CD848A6C}"/>
                </c:ext>
              </c:extLst>
            </c:dLbl>
            <c:dLbl>
              <c:idx val="6"/>
              <c:layout>
                <c:manualLayout>
                  <c:x val="-0.29734510906396899"/>
                  <c:y val="2.433411234427276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5D4-479C-A810-6AE9CD848A6C}"/>
                </c:ext>
              </c:extLst>
            </c:dLbl>
            <c:dLbl>
              <c:idx val="7"/>
              <c:layout>
                <c:manualLayout>
                  <c:x val="-0.30948164412780438"/>
                  <c:y val="-2.433411234427365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5D4-479C-A810-6AE9CD848A6C}"/>
                </c:ext>
              </c:extLst>
            </c:dLbl>
            <c:dLbl>
              <c:idx val="8"/>
              <c:layout>
                <c:manualLayout>
                  <c:x val="-0.32161817919163987"/>
                  <c:y val="-4.866822468854730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5D4-479C-A810-6AE9CD848A6C}"/>
                </c:ext>
              </c:extLst>
            </c:dLbl>
            <c:dLbl>
              <c:idx val="9"/>
              <c:layout>
                <c:manualLayout>
                  <c:x val="-0.34589124931931081"/>
                  <c:y val="2.433411234427365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5D4-479C-A810-6AE9CD848A6C}"/>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Display" panose="020B00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'2'!$A$13:$A$22</c:f>
              <c:strCache>
                <c:ptCount val="10"/>
                <c:pt idx="0">
                  <c:v>South Sudan</c:v>
                </c:pt>
                <c:pt idx="1">
                  <c:v>Central African Republic</c:v>
                </c:pt>
                <c:pt idx="2">
                  <c:v>Afghanistan</c:v>
                </c:pt>
                <c:pt idx="3">
                  <c:v>Tanzania</c:v>
                </c:pt>
                <c:pt idx="4">
                  <c:v>Rwanda</c:v>
                </c:pt>
                <c:pt idx="5">
                  <c:v>Yemen</c:v>
                </c:pt>
                <c:pt idx="6">
                  <c:v>Malawi</c:v>
                </c:pt>
                <c:pt idx="7">
                  <c:v>Syria</c:v>
                </c:pt>
                <c:pt idx="8">
                  <c:v>Botswana</c:v>
                </c:pt>
                <c:pt idx="9">
                  <c:v>Haiti</c:v>
                </c:pt>
              </c:strCache>
            </c:strRef>
          </c:cat>
          <c:val>
            <c:numRef>
              <c:f>'2'!$B$13:$B$22</c:f>
              <c:numCache>
                <c:formatCode>General</c:formatCode>
                <c:ptCount val="10"/>
                <c:pt idx="0">
                  <c:v>2.85</c:v>
                </c:pt>
                <c:pt idx="1">
                  <c:v>3.08</c:v>
                </c:pt>
                <c:pt idx="2">
                  <c:v>3.2</c:v>
                </c:pt>
                <c:pt idx="3">
                  <c:v>3.23</c:v>
                </c:pt>
                <c:pt idx="4">
                  <c:v>3.33</c:v>
                </c:pt>
                <c:pt idx="5">
                  <c:v>3.38</c:v>
                </c:pt>
                <c:pt idx="6">
                  <c:v>3.41</c:v>
                </c:pt>
                <c:pt idx="7">
                  <c:v>3.46</c:v>
                </c:pt>
                <c:pt idx="8">
                  <c:v>3.49</c:v>
                </c:pt>
                <c:pt idx="9">
                  <c:v>3.6</c:v>
                </c:pt>
              </c:numCache>
            </c:numRef>
          </c:val>
          <c:extLst>
            <c:ext xmlns:c16="http://schemas.microsoft.com/office/drawing/2014/chart" uri="{C3380CC4-5D6E-409C-BE32-E72D297353CC}">
              <c16:uniqueId val="{00000000-D5D4-479C-A810-6AE9CD848A6C}"/>
            </c:ext>
          </c:extLst>
        </c:ser>
        <c:dLbls>
          <c:showLegendKey val="0"/>
          <c:showVal val="0"/>
          <c:showCatName val="0"/>
          <c:showSerName val="0"/>
          <c:showPercent val="0"/>
          <c:showBubbleSize val="0"/>
        </c:dLbls>
        <c:gapWidth val="182"/>
        <c:axId val="783245551"/>
        <c:axId val="1622631663"/>
      </c:barChart>
      <c:catAx>
        <c:axId val="78324555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ysClr val="windowText" lastClr="000000"/>
                </a:solidFill>
                <a:latin typeface="Aptos Display" panose="020B0004020202020204" pitchFamily="34" charset="0"/>
                <a:ea typeface="+mn-ea"/>
                <a:cs typeface="+mn-cs"/>
              </a:defRPr>
            </a:pPr>
            <a:endParaRPr lang="en-US"/>
          </a:p>
        </c:txPr>
        <c:crossAx val="1622631663"/>
        <c:crosses val="autoZero"/>
        <c:auto val="1"/>
        <c:lblAlgn val="ctr"/>
        <c:lblOffset val="100"/>
        <c:noMultiLvlLbl val="0"/>
      </c:catAx>
      <c:valAx>
        <c:axId val="1622631663"/>
        <c:scaling>
          <c:orientation val="minMax"/>
          <c:max val="4"/>
          <c:min val="0"/>
        </c:scaling>
        <c:delete val="0"/>
        <c:axPos val="b"/>
        <c:title>
          <c:tx>
            <c:rich>
              <a:bodyPr rot="0" spcFirstLastPara="1" vertOverflow="ellipsis" vert="horz" wrap="square" anchor="ctr" anchorCtr="1"/>
              <a:lstStyle/>
              <a:p>
                <a:pPr>
                  <a:defRPr sz="1000" b="1" i="0" u="none" strike="noStrike" kern="1200" baseline="0">
                    <a:solidFill>
                      <a:sysClr val="windowText" lastClr="000000"/>
                    </a:solidFill>
                    <a:latin typeface="Aptos Display" panose="020B0004020202020204" pitchFamily="34" charset="0"/>
                    <a:ea typeface="+mn-ea"/>
                    <a:cs typeface="+mn-cs"/>
                  </a:defRPr>
                </a:pPr>
                <a:r>
                  <a:rPr lang="en-GB" b="1">
                    <a:solidFill>
                      <a:sysClr val="windowText" lastClr="000000"/>
                    </a:solidFill>
                    <a:latin typeface="Aptos Display" panose="020B0004020202020204" pitchFamily="34" charset="0"/>
                  </a:rPr>
                  <a:t>Happiness</a:t>
                </a:r>
                <a:r>
                  <a:rPr lang="en-GB" b="1" baseline="0">
                    <a:solidFill>
                      <a:sysClr val="windowText" lastClr="000000"/>
                    </a:solidFill>
                    <a:latin typeface="Aptos Display" panose="020B0004020202020204" pitchFamily="34" charset="0"/>
                  </a:rPr>
                  <a:t> Score</a:t>
                </a:r>
                <a:endParaRPr lang="en-GB" b="1">
                  <a:solidFill>
                    <a:sysClr val="windowText" lastClr="000000"/>
                  </a:solidFill>
                  <a:latin typeface="Aptos Display" panose="020B0004020202020204" pitchFamily="34" charset="0"/>
                </a:endParaRPr>
              </a:p>
            </c:rich>
          </c:tx>
          <c:layout>
            <c:manualLayout>
              <c:xMode val="edge"/>
              <c:yMode val="edge"/>
              <c:x val="0.46047511190060531"/>
              <c:y val="0.94132528174399321"/>
            </c:manualLayout>
          </c:layout>
          <c:overlay val="0"/>
          <c:spPr>
            <a:noFill/>
            <a:ln>
              <a:noFill/>
            </a:ln>
            <a:effectLst/>
          </c:spPr>
          <c:txPr>
            <a:bodyPr rot="0" spcFirstLastPara="1" vertOverflow="ellipsis" vert="horz" wrap="square" anchor="ctr" anchorCtr="1"/>
            <a:lstStyle/>
            <a:p>
              <a:pPr>
                <a:defRPr sz="1000" b="1" i="0" u="none" strike="noStrike" kern="1200" baseline="0">
                  <a:solidFill>
                    <a:sysClr val="windowText" lastClr="000000"/>
                  </a:solidFill>
                  <a:latin typeface="Aptos Display" panose="020B0004020202020204" pitchFamily="34" charset="0"/>
                  <a:ea typeface="+mn-ea"/>
                  <a:cs typeface="+mn-cs"/>
                </a:defRPr>
              </a:pPr>
              <a:endParaRPr lang="en-GB"/>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ptos Display" panose="020B0004020202020204" pitchFamily="34" charset="0"/>
                <a:ea typeface="+mn-ea"/>
                <a:cs typeface="+mn-cs"/>
              </a:defRPr>
            </a:pPr>
            <a:endParaRPr lang="en-US"/>
          </a:p>
        </c:txPr>
        <c:crossAx val="783245551"/>
        <c:crosses val="autoZero"/>
        <c:crossBetween val="between"/>
        <c:majorUnit val="1"/>
      </c:valAx>
      <c:spPr>
        <a:noFill/>
        <a:ln>
          <a:noFill/>
        </a:ln>
        <a:effectLst/>
      </c:spPr>
    </c:plotArea>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GB" b="1"/>
              <a:t>Qatar</a:t>
            </a:r>
            <a:r>
              <a:rPr lang="en-GB" b="1" baseline="0"/>
              <a:t> GDP per Capita vs Global Avg Hapiness Score</a:t>
            </a:r>
            <a:endParaRPr lang="en-GB" b="1"/>
          </a:p>
        </c:rich>
      </c:tx>
      <c:layout>
        <c:manualLayout>
          <c:xMode val="edge"/>
          <c:yMode val="edge"/>
          <c:x val="0.2219795703976204"/>
          <c:y val="1.732226436094143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bar"/>
        <c:grouping val="clustered"/>
        <c:varyColors val="0"/>
        <c:ser>
          <c:idx val="0"/>
          <c:order val="0"/>
          <c:spPr>
            <a:solidFill>
              <a:schemeClr val="accent3">
                <a:lumMod val="20000"/>
                <a:lumOff val="80000"/>
              </a:schemeClr>
            </a:solidFill>
            <a:ln>
              <a:noFill/>
            </a:ln>
            <a:effectLst/>
          </c:spPr>
          <c:invertIfNegative val="0"/>
          <c:dPt>
            <c:idx val="0"/>
            <c:invertIfNegative val="0"/>
            <c:bubble3D val="0"/>
            <c:spPr>
              <a:solidFill>
                <a:schemeClr val="accent2"/>
              </a:solidFill>
              <a:ln>
                <a:noFill/>
              </a:ln>
              <a:effectLst/>
            </c:spPr>
            <c:extLst>
              <c:ext xmlns:c16="http://schemas.microsoft.com/office/drawing/2014/chart" uri="{C3380CC4-5D6E-409C-BE32-E72D297353CC}">
                <c16:uniqueId val="{00000002-BB0D-4EC3-AABD-70D1FAE5DF06}"/>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1-BB0D-4EC3-AABD-70D1FAE5DF06}"/>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'5'!$B$2:$C$2</c:f>
              <c:strCache>
                <c:ptCount val="2"/>
                <c:pt idx="0">
                  <c:v>Qatar GDP per Capita</c:v>
                </c:pt>
                <c:pt idx="1">
                  <c:v>Global Avg Happiness</c:v>
                </c:pt>
              </c:strCache>
            </c:strRef>
          </c:cat>
          <c:val>
            <c:numRef>
              <c:f>'5'!$B$3:$C$3</c:f>
              <c:numCache>
                <c:formatCode>0.00</c:formatCode>
                <c:ptCount val="2"/>
                <c:pt idx="0" formatCode="General">
                  <c:v>1.68</c:v>
                </c:pt>
                <c:pt idx="1">
                  <c:v>5.4076282051281996</c:v>
                </c:pt>
              </c:numCache>
            </c:numRef>
          </c:val>
          <c:extLst>
            <c:ext xmlns:c16="http://schemas.microsoft.com/office/drawing/2014/chart" uri="{C3380CC4-5D6E-409C-BE32-E72D297353CC}">
              <c16:uniqueId val="{00000000-BB0D-4EC3-AABD-70D1FAE5DF06}"/>
            </c:ext>
          </c:extLst>
        </c:ser>
        <c:dLbls>
          <c:showLegendKey val="0"/>
          <c:showVal val="0"/>
          <c:showCatName val="0"/>
          <c:showSerName val="0"/>
          <c:showPercent val="0"/>
          <c:showBubbleSize val="0"/>
        </c:dLbls>
        <c:gapWidth val="182"/>
        <c:axId val="783271071"/>
        <c:axId val="826436751"/>
      </c:barChart>
      <c:catAx>
        <c:axId val="78327107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crossAx val="826436751"/>
        <c:crosses val="autoZero"/>
        <c:auto val="1"/>
        <c:lblAlgn val="ctr"/>
        <c:lblOffset val="100"/>
        <c:noMultiLvlLbl val="0"/>
      </c:catAx>
      <c:valAx>
        <c:axId val="82643675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3271071"/>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782770924399933"/>
          <c:y val="0.12936637514942348"/>
          <c:w val="0.84448399487920189"/>
          <c:h val="0.81044231325105276"/>
        </c:manualLayout>
      </c:layout>
      <c:barChart>
        <c:barDir val="bar"/>
        <c:grouping val="clustered"/>
        <c:varyColors val="0"/>
        <c:ser>
          <c:idx val="0"/>
          <c:order val="0"/>
          <c:spPr>
            <a:solidFill>
              <a:schemeClr val="accent1"/>
            </a:solidFill>
            <a:ln>
              <a:noFill/>
            </a:ln>
            <a:effectLst/>
          </c:spPr>
          <c:invertIfNegative val="0"/>
          <c:dLbls>
            <c:dLbl>
              <c:idx val="0"/>
              <c:layout>
                <c:manualLayout>
                  <c:x val="-0.32175931110165507"/>
                  <c:y val="-2.0488053389861917E-1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E5A-4D8A-8CE1-4EB33E62FF1F}"/>
                </c:ext>
              </c:extLst>
            </c:dLbl>
            <c:dLbl>
              <c:idx val="1"/>
              <c:layout>
                <c:manualLayout>
                  <c:x val="-0.33064768986136928"/>
                  <c:y val="5.587715473528088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E5A-4D8A-8CE1-4EB33E62FF1F}"/>
                </c:ext>
              </c:extLst>
            </c:dLbl>
            <c:dLbl>
              <c:idx val="2"/>
              <c:layout>
                <c:manualLayout>
                  <c:x val="-0.3306476898613693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E5A-4D8A-8CE1-4EB33E62FF1F}"/>
                </c:ext>
              </c:extLst>
            </c:dLbl>
            <c:dLbl>
              <c:idx val="3"/>
              <c:layout>
                <c:manualLayout>
                  <c:x val="-0.33775839286914067"/>
                  <c:y val="-2.793857736764044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E5A-4D8A-8CE1-4EB33E62FF1F}"/>
                </c:ext>
              </c:extLst>
            </c:dLbl>
            <c:dLbl>
              <c:idx val="4"/>
              <c:layout>
                <c:manualLayout>
                  <c:x val="-0.3519797988846835"/>
                  <c:y val="-2.793857736764069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E5A-4D8A-8CE1-4EB33E62FF1F}"/>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'6'!$A$2:$A$6</c:f>
              <c:strCache>
                <c:ptCount val="5"/>
                <c:pt idx="0">
                  <c:v>New Zealand</c:v>
                </c:pt>
                <c:pt idx="1">
                  <c:v>Denmark</c:v>
                </c:pt>
                <c:pt idx="2">
                  <c:v>Norway</c:v>
                </c:pt>
                <c:pt idx="3">
                  <c:v>Finland</c:v>
                </c:pt>
                <c:pt idx="4">
                  <c:v>Iceland</c:v>
                </c:pt>
              </c:strCache>
            </c:strRef>
          </c:cat>
          <c:val>
            <c:numRef>
              <c:f>'6'!$B$2:$B$6</c:f>
              <c:numCache>
                <c:formatCode>General</c:formatCode>
                <c:ptCount val="5"/>
                <c:pt idx="0">
                  <c:v>1.56</c:v>
                </c:pt>
                <c:pt idx="1">
                  <c:v>1.57</c:v>
                </c:pt>
                <c:pt idx="2">
                  <c:v>1.58</c:v>
                </c:pt>
                <c:pt idx="3">
                  <c:v>1.59</c:v>
                </c:pt>
                <c:pt idx="4">
                  <c:v>1.62</c:v>
                </c:pt>
              </c:numCache>
            </c:numRef>
          </c:val>
          <c:extLst>
            <c:ext xmlns:c16="http://schemas.microsoft.com/office/drawing/2014/chart" uri="{C3380CC4-5D6E-409C-BE32-E72D297353CC}">
              <c16:uniqueId val="{00000000-8E5A-4D8A-8CE1-4EB33E62FF1F}"/>
            </c:ext>
          </c:extLst>
        </c:ser>
        <c:dLbls>
          <c:dLblPos val="outEnd"/>
          <c:showLegendKey val="0"/>
          <c:showVal val="1"/>
          <c:showCatName val="0"/>
          <c:showSerName val="0"/>
          <c:showPercent val="0"/>
          <c:showBubbleSize val="0"/>
        </c:dLbls>
        <c:gapWidth val="182"/>
        <c:axId val="783231167"/>
        <c:axId val="826446831"/>
      </c:barChart>
      <c:catAx>
        <c:axId val="78323116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Aptos Display" panose="020B0004020202020204" pitchFamily="34" charset="0"/>
                <a:ea typeface="+mn-ea"/>
                <a:cs typeface="+mn-cs"/>
              </a:defRPr>
            </a:pPr>
            <a:endParaRPr lang="en-US"/>
          </a:p>
        </c:txPr>
        <c:crossAx val="826446831"/>
        <c:crosses val="autoZero"/>
        <c:auto val="1"/>
        <c:lblAlgn val="ctr"/>
        <c:lblOffset val="100"/>
        <c:noMultiLvlLbl val="0"/>
      </c:catAx>
      <c:valAx>
        <c:axId val="826446831"/>
        <c:scaling>
          <c:orientation val="minMax"/>
          <c:max val="2"/>
          <c:min val="0"/>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783231167"/>
        <c:crosses val="autoZero"/>
        <c:crossBetween val="between"/>
        <c:majorUnit val="0.4"/>
        <c:minorUnit val="5.000000000000001E-2"/>
      </c:valAx>
      <c:spPr>
        <a:noFill/>
        <a:ln>
          <a:noFill/>
        </a:ln>
        <a:effectLst/>
      </c:spPr>
    </c:plotArea>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782770924399933"/>
          <c:y val="0.12936637514942348"/>
          <c:w val="0.84448399487920189"/>
          <c:h val="0.81044231325105276"/>
        </c:manualLayout>
      </c:layout>
      <c:barChart>
        <c:barDir val="bar"/>
        <c:grouping val="clustered"/>
        <c:varyColors val="0"/>
        <c:dLbls>
          <c:dLblPos val="outEnd"/>
          <c:showLegendKey val="0"/>
          <c:showVal val="1"/>
          <c:showCatName val="0"/>
          <c:showSerName val="0"/>
          <c:showPercent val="0"/>
          <c:showBubbleSize val="0"/>
        </c:dLbls>
        <c:gapWidth val="182"/>
        <c:axId val="783231167"/>
        <c:axId val="826446831"/>
      </c:barChart>
      <c:catAx>
        <c:axId val="78323116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Aptos Display" panose="020B0004020202020204" pitchFamily="34" charset="0"/>
                <a:ea typeface="+mn-ea"/>
                <a:cs typeface="+mn-cs"/>
              </a:defRPr>
            </a:pPr>
            <a:endParaRPr lang="en-US"/>
          </a:p>
        </c:txPr>
        <c:crossAx val="826446831"/>
        <c:crosses val="autoZero"/>
        <c:auto val="1"/>
        <c:lblAlgn val="ctr"/>
        <c:lblOffset val="100"/>
        <c:noMultiLvlLbl val="0"/>
      </c:catAx>
      <c:valAx>
        <c:axId val="826446831"/>
        <c:scaling>
          <c:orientation val="minMax"/>
          <c:max val="2"/>
          <c:min val="0"/>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783231167"/>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chemeClr val="accent1"/>
            </a:solidFill>
            <a:ln>
              <a:noFill/>
            </a:ln>
            <a:effectLst/>
          </c:spPr>
          <c:invertIfNegative val="0"/>
          <c:cat>
            <c:strRef>
              <c:f>'7'!$A$2:$A$6</c:f>
              <c:strCache>
                <c:ptCount val="5"/>
                <c:pt idx="0">
                  <c:v>France</c:v>
                </c:pt>
                <c:pt idx="1">
                  <c:v>Spain</c:v>
                </c:pt>
                <c:pt idx="2">
                  <c:v>Japan</c:v>
                </c:pt>
                <c:pt idx="3">
                  <c:v>Hong Kong</c:v>
                </c:pt>
                <c:pt idx="4">
                  <c:v>Singapore</c:v>
                </c:pt>
              </c:strCache>
            </c:strRef>
          </c:cat>
          <c:val>
            <c:numRef>
              <c:f>'7'!$B$2:$B$6</c:f>
              <c:numCache>
                <c:formatCode>General</c:formatCode>
                <c:ptCount val="5"/>
                <c:pt idx="0">
                  <c:v>1.05</c:v>
                </c:pt>
                <c:pt idx="1">
                  <c:v>1.06</c:v>
                </c:pt>
                <c:pt idx="2">
                  <c:v>1.0900000000000001</c:v>
                </c:pt>
                <c:pt idx="3">
                  <c:v>1.1200000000000001</c:v>
                </c:pt>
                <c:pt idx="4">
                  <c:v>1.1399999999999999</c:v>
                </c:pt>
              </c:numCache>
            </c:numRef>
          </c:val>
          <c:extLst>
            <c:ext xmlns:c16="http://schemas.microsoft.com/office/drawing/2014/chart" uri="{C3380CC4-5D6E-409C-BE32-E72D297353CC}">
              <c16:uniqueId val="{00000000-91F0-4B90-879A-C6119053B9C6}"/>
            </c:ext>
          </c:extLst>
        </c:ser>
        <c:dLbls>
          <c:showLegendKey val="0"/>
          <c:showVal val="0"/>
          <c:showCatName val="0"/>
          <c:showSerName val="0"/>
          <c:showPercent val="0"/>
          <c:showBubbleSize val="0"/>
        </c:dLbls>
        <c:gapWidth val="182"/>
        <c:axId val="774880991"/>
        <c:axId val="826484271"/>
      </c:barChart>
      <c:catAx>
        <c:axId val="77488099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Aptos Display" panose="020B0004020202020204" pitchFamily="34" charset="0"/>
                <a:ea typeface="+mn-ea"/>
                <a:cs typeface="+mn-cs"/>
              </a:defRPr>
            </a:pPr>
            <a:endParaRPr lang="en-US"/>
          </a:p>
        </c:txPr>
        <c:crossAx val="826484271"/>
        <c:crosses val="autoZero"/>
        <c:auto val="1"/>
        <c:lblAlgn val="ctr"/>
        <c:lblOffset val="100"/>
        <c:noMultiLvlLbl val="0"/>
      </c:catAx>
      <c:valAx>
        <c:axId val="826484271"/>
        <c:scaling>
          <c:orientation val="minMax"/>
          <c:max val="1.6"/>
          <c:min val="0"/>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Aptos Display" panose="020B0004020202020204" pitchFamily="34" charset="0"/>
                <a:ea typeface="+mn-ea"/>
                <a:cs typeface="+mn-cs"/>
              </a:defRPr>
            </a:pPr>
            <a:endParaRPr lang="en-US"/>
          </a:p>
        </c:txPr>
        <c:crossAx val="774880991"/>
        <c:crosses val="autoZero"/>
        <c:crossBetween val="between"/>
        <c:majorUnit val="0.4"/>
        <c:minorUnit val="5.000000000000001E-2"/>
      </c:valAx>
      <c:spPr>
        <a:noFill/>
        <a:ln>
          <a:noFill/>
        </a:ln>
        <a:effectLst/>
      </c:spPr>
    </c:plotArea>
    <c:plotVisOnly val="1"/>
    <c:dispBlanksAs val="gap"/>
    <c:showDLblsOverMax val="0"/>
  </c:chart>
  <c:spPr>
    <a:noFill/>
    <a:ln>
      <a:noFill/>
    </a:ln>
    <a:effectLst/>
  </c:spPr>
  <c:txPr>
    <a:bodyPr/>
    <a:lstStyle/>
    <a:p>
      <a:pPr>
        <a:defRPr>
          <a:latin typeface="Aptos Display" panose="020B00040202020202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6836494172091E-2"/>
          <c:y val="3.7097285489652548E-2"/>
          <c:w val="0.92458406023991546"/>
          <c:h val="0.8562300250377769"/>
        </c:manualLayout>
      </c:layout>
      <c:scatterChart>
        <c:scatterStyle val="lineMarker"/>
        <c:varyColors val="0"/>
        <c:ser>
          <c:idx val="0"/>
          <c:order val="0"/>
          <c:tx>
            <c:strRef>
              <c:f>'8'!$C$2</c:f>
              <c:strCache>
                <c:ptCount val="1"/>
                <c:pt idx="0">
                  <c:v>Happines Score</c:v>
                </c:pt>
              </c:strCache>
            </c:strRef>
          </c:tx>
          <c:spPr>
            <a:ln w="25400" cap="rnd">
              <a:noFill/>
              <a:round/>
            </a:ln>
            <a:effectLst/>
          </c:spPr>
          <c:marker>
            <c:symbol val="circle"/>
            <c:size val="5"/>
            <c:spPr>
              <a:solidFill>
                <a:schemeClr val="accent1"/>
              </a:solidFill>
              <a:ln w="9525">
                <a:solidFill>
                  <a:schemeClr val="accent1"/>
                </a:solidFill>
              </a:ln>
              <a:effectLst/>
            </c:spPr>
          </c:marker>
          <c:xVal>
            <c:numRef>
              <c:f>'8'!$B$3:$B$158</c:f>
              <c:numCache>
                <c:formatCode>General</c:formatCode>
                <c:ptCount val="156"/>
                <c:pt idx="0">
                  <c:v>0.45</c:v>
                </c:pt>
                <c:pt idx="1">
                  <c:v>0.41</c:v>
                </c:pt>
                <c:pt idx="2">
                  <c:v>0.41</c:v>
                </c:pt>
                <c:pt idx="3">
                  <c:v>0.39</c:v>
                </c:pt>
                <c:pt idx="4">
                  <c:v>0.38</c:v>
                </c:pt>
                <c:pt idx="5">
                  <c:v>0.37</c:v>
                </c:pt>
                <c:pt idx="6">
                  <c:v>0.34</c:v>
                </c:pt>
                <c:pt idx="7">
                  <c:v>0.34</c:v>
                </c:pt>
                <c:pt idx="8">
                  <c:v>0.32</c:v>
                </c:pt>
                <c:pt idx="9">
                  <c:v>0.31</c:v>
                </c:pt>
                <c:pt idx="10">
                  <c:v>0.31</c:v>
                </c:pt>
                <c:pt idx="11">
                  <c:v>0.3</c:v>
                </c:pt>
                <c:pt idx="12">
                  <c:v>0.28999999999999998</c:v>
                </c:pt>
                <c:pt idx="13">
                  <c:v>0.28999999999999998</c:v>
                </c:pt>
                <c:pt idx="14">
                  <c:v>0.28000000000000003</c:v>
                </c:pt>
                <c:pt idx="15">
                  <c:v>0.27</c:v>
                </c:pt>
                <c:pt idx="16">
                  <c:v>0.27</c:v>
                </c:pt>
                <c:pt idx="17">
                  <c:v>0.24</c:v>
                </c:pt>
                <c:pt idx="18">
                  <c:v>0.23</c:v>
                </c:pt>
                <c:pt idx="19">
                  <c:v>0.21</c:v>
                </c:pt>
                <c:pt idx="20">
                  <c:v>0.18</c:v>
                </c:pt>
                <c:pt idx="21">
                  <c:v>0.18</c:v>
                </c:pt>
                <c:pt idx="22">
                  <c:v>0.18</c:v>
                </c:pt>
                <c:pt idx="23">
                  <c:v>0.18</c:v>
                </c:pt>
                <c:pt idx="24">
                  <c:v>0.17</c:v>
                </c:pt>
                <c:pt idx="25">
                  <c:v>0.17</c:v>
                </c:pt>
                <c:pt idx="26">
                  <c:v>0.17</c:v>
                </c:pt>
                <c:pt idx="27">
                  <c:v>0.17</c:v>
                </c:pt>
                <c:pt idx="28">
                  <c:v>0.16</c:v>
                </c:pt>
                <c:pt idx="29">
                  <c:v>0.16</c:v>
                </c:pt>
                <c:pt idx="30">
                  <c:v>0.16</c:v>
                </c:pt>
                <c:pt idx="31">
                  <c:v>0.16</c:v>
                </c:pt>
                <c:pt idx="32">
                  <c:v>0.15</c:v>
                </c:pt>
                <c:pt idx="33">
                  <c:v>0.15</c:v>
                </c:pt>
                <c:pt idx="34">
                  <c:v>0.15</c:v>
                </c:pt>
                <c:pt idx="35">
                  <c:v>0.15</c:v>
                </c:pt>
                <c:pt idx="36">
                  <c:v>0.14000000000000001</c:v>
                </c:pt>
                <c:pt idx="37">
                  <c:v>0.14000000000000001</c:v>
                </c:pt>
                <c:pt idx="38">
                  <c:v>0.14000000000000001</c:v>
                </c:pt>
                <c:pt idx="39">
                  <c:v>0.14000000000000001</c:v>
                </c:pt>
                <c:pt idx="40">
                  <c:v>0.14000000000000001</c:v>
                </c:pt>
                <c:pt idx="41">
                  <c:v>0.14000000000000001</c:v>
                </c:pt>
                <c:pt idx="42">
                  <c:v>0.14000000000000001</c:v>
                </c:pt>
                <c:pt idx="43">
                  <c:v>0.13</c:v>
                </c:pt>
                <c:pt idx="44">
                  <c:v>0.13</c:v>
                </c:pt>
                <c:pt idx="45">
                  <c:v>0.13</c:v>
                </c:pt>
                <c:pt idx="46">
                  <c:v>0.13</c:v>
                </c:pt>
                <c:pt idx="47">
                  <c:v>0.13</c:v>
                </c:pt>
                <c:pt idx="48">
                  <c:v>0.12</c:v>
                </c:pt>
                <c:pt idx="49">
                  <c:v>0.11</c:v>
                </c:pt>
                <c:pt idx="50">
                  <c:v>0.11</c:v>
                </c:pt>
                <c:pt idx="51">
                  <c:v>0.11</c:v>
                </c:pt>
                <c:pt idx="52">
                  <c:v>0.11</c:v>
                </c:pt>
                <c:pt idx="53">
                  <c:v>0.11</c:v>
                </c:pt>
                <c:pt idx="54">
                  <c:v>0.11</c:v>
                </c:pt>
                <c:pt idx="55">
                  <c:v>0.1</c:v>
                </c:pt>
                <c:pt idx="56">
                  <c:v>0.1</c:v>
                </c:pt>
                <c:pt idx="57">
                  <c:v>0.1</c:v>
                </c:pt>
                <c:pt idx="58">
                  <c:v>0.1</c:v>
                </c:pt>
                <c:pt idx="59">
                  <c:v>0.1</c:v>
                </c:pt>
                <c:pt idx="60">
                  <c:v>0.1</c:v>
                </c:pt>
                <c:pt idx="61">
                  <c:v>0.1</c:v>
                </c:pt>
                <c:pt idx="62">
                  <c:v>0.1</c:v>
                </c:pt>
                <c:pt idx="63">
                  <c:v>0.1</c:v>
                </c:pt>
                <c:pt idx="64">
                  <c:v>0.09</c:v>
                </c:pt>
                <c:pt idx="65">
                  <c:v>0.09</c:v>
                </c:pt>
                <c:pt idx="66">
                  <c:v>0.09</c:v>
                </c:pt>
                <c:pt idx="67">
                  <c:v>0.09</c:v>
                </c:pt>
                <c:pt idx="68">
                  <c:v>0.09</c:v>
                </c:pt>
                <c:pt idx="69">
                  <c:v>0.09</c:v>
                </c:pt>
                <c:pt idx="70">
                  <c:v>0.09</c:v>
                </c:pt>
                <c:pt idx="71">
                  <c:v>0.09</c:v>
                </c:pt>
                <c:pt idx="72">
                  <c:v>0.09</c:v>
                </c:pt>
                <c:pt idx="73">
                  <c:v>0.09</c:v>
                </c:pt>
                <c:pt idx="74">
                  <c:v>0.09</c:v>
                </c:pt>
                <c:pt idx="75">
                  <c:v>0.09</c:v>
                </c:pt>
                <c:pt idx="76">
                  <c:v>0.09</c:v>
                </c:pt>
                <c:pt idx="77">
                  <c:v>0.09</c:v>
                </c:pt>
                <c:pt idx="78">
                  <c:v>0.09</c:v>
                </c:pt>
                <c:pt idx="79">
                  <c:v>0.09</c:v>
                </c:pt>
                <c:pt idx="80">
                  <c:v>0.08</c:v>
                </c:pt>
                <c:pt idx="81">
                  <c:v>0.08</c:v>
                </c:pt>
                <c:pt idx="82">
                  <c:v>0.08</c:v>
                </c:pt>
                <c:pt idx="83">
                  <c:v>0.08</c:v>
                </c:pt>
                <c:pt idx="84">
                  <c:v>0.08</c:v>
                </c:pt>
                <c:pt idx="85">
                  <c:v>0.08</c:v>
                </c:pt>
                <c:pt idx="86">
                  <c:v>0.08</c:v>
                </c:pt>
                <c:pt idx="87">
                  <c:v>0.08</c:v>
                </c:pt>
                <c:pt idx="88">
                  <c:v>0.08</c:v>
                </c:pt>
                <c:pt idx="89">
                  <c:v>0.08</c:v>
                </c:pt>
                <c:pt idx="90">
                  <c:v>0.08</c:v>
                </c:pt>
                <c:pt idx="91">
                  <c:v>7.0000000000000007E-2</c:v>
                </c:pt>
                <c:pt idx="92">
                  <c:v>7.0000000000000007E-2</c:v>
                </c:pt>
                <c:pt idx="93">
                  <c:v>7.0000000000000007E-2</c:v>
                </c:pt>
                <c:pt idx="94">
                  <c:v>7.0000000000000007E-2</c:v>
                </c:pt>
                <c:pt idx="95">
                  <c:v>7.0000000000000007E-2</c:v>
                </c:pt>
                <c:pt idx="96">
                  <c:v>7.0000000000000007E-2</c:v>
                </c:pt>
                <c:pt idx="97">
                  <c:v>0.06</c:v>
                </c:pt>
                <c:pt idx="98">
                  <c:v>0.06</c:v>
                </c:pt>
                <c:pt idx="99">
                  <c:v>0.06</c:v>
                </c:pt>
                <c:pt idx="100">
                  <c:v>0.06</c:v>
                </c:pt>
                <c:pt idx="101">
                  <c:v>0.06</c:v>
                </c:pt>
                <c:pt idx="102">
                  <c:v>0.06</c:v>
                </c:pt>
                <c:pt idx="103">
                  <c:v>0.06</c:v>
                </c:pt>
                <c:pt idx="104">
                  <c:v>0.06</c:v>
                </c:pt>
                <c:pt idx="105">
                  <c:v>0.06</c:v>
                </c:pt>
                <c:pt idx="106">
                  <c:v>0.06</c:v>
                </c:pt>
                <c:pt idx="107">
                  <c:v>0.06</c:v>
                </c:pt>
                <c:pt idx="108">
                  <c:v>0.06</c:v>
                </c:pt>
                <c:pt idx="109">
                  <c:v>0.06</c:v>
                </c:pt>
                <c:pt idx="110">
                  <c:v>0.05</c:v>
                </c:pt>
                <c:pt idx="111">
                  <c:v>0.05</c:v>
                </c:pt>
                <c:pt idx="112">
                  <c:v>0.05</c:v>
                </c:pt>
                <c:pt idx="113">
                  <c:v>0.05</c:v>
                </c:pt>
                <c:pt idx="114">
                  <c:v>0.05</c:v>
                </c:pt>
                <c:pt idx="115">
                  <c:v>0.05</c:v>
                </c:pt>
                <c:pt idx="116">
                  <c:v>0.05</c:v>
                </c:pt>
                <c:pt idx="117">
                  <c:v>0.05</c:v>
                </c:pt>
                <c:pt idx="118">
                  <c:v>0.05</c:v>
                </c:pt>
                <c:pt idx="119">
                  <c:v>0.04</c:v>
                </c:pt>
                <c:pt idx="120">
                  <c:v>0.04</c:v>
                </c:pt>
                <c:pt idx="121">
                  <c:v>0.04</c:v>
                </c:pt>
                <c:pt idx="122">
                  <c:v>0.04</c:v>
                </c:pt>
                <c:pt idx="123">
                  <c:v>0.04</c:v>
                </c:pt>
                <c:pt idx="124">
                  <c:v>0.04</c:v>
                </c:pt>
                <c:pt idx="125">
                  <c:v>0.04</c:v>
                </c:pt>
                <c:pt idx="126">
                  <c:v>0.04</c:v>
                </c:pt>
                <c:pt idx="127">
                  <c:v>0.04</c:v>
                </c:pt>
                <c:pt idx="128">
                  <c:v>0.04</c:v>
                </c:pt>
                <c:pt idx="129">
                  <c:v>0.03</c:v>
                </c:pt>
                <c:pt idx="130">
                  <c:v>0.03</c:v>
                </c:pt>
                <c:pt idx="131">
                  <c:v>0.03</c:v>
                </c:pt>
                <c:pt idx="132">
                  <c:v>0.03</c:v>
                </c:pt>
                <c:pt idx="133">
                  <c:v>0.03</c:v>
                </c:pt>
                <c:pt idx="134">
                  <c:v>0.03</c:v>
                </c:pt>
                <c:pt idx="135">
                  <c:v>0.03</c:v>
                </c:pt>
                <c:pt idx="136">
                  <c:v>0.03</c:v>
                </c:pt>
                <c:pt idx="137">
                  <c:v>0.03</c:v>
                </c:pt>
                <c:pt idx="138">
                  <c:v>0.03</c:v>
                </c:pt>
                <c:pt idx="139">
                  <c:v>0.03</c:v>
                </c:pt>
                <c:pt idx="140">
                  <c:v>0.03</c:v>
                </c:pt>
                <c:pt idx="141">
                  <c:v>0.03</c:v>
                </c:pt>
                <c:pt idx="142">
                  <c:v>0.03</c:v>
                </c:pt>
                <c:pt idx="143">
                  <c:v>0.03</c:v>
                </c:pt>
                <c:pt idx="144">
                  <c:v>0.02</c:v>
                </c:pt>
                <c:pt idx="145">
                  <c:v>0.02</c:v>
                </c:pt>
                <c:pt idx="146">
                  <c:v>0.02</c:v>
                </c:pt>
                <c:pt idx="147">
                  <c:v>0.02</c:v>
                </c:pt>
                <c:pt idx="148">
                  <c:v>0.02</c:v>
                </c:pt>
                <c:pt idx="149">
                  <c:v>0.01</c:v>
                </c:pt>
                <c:pt idx="150">
                  <c:v>0.01</c:v>
                </c:pt>
                <c:pt idx="151">
                  <c:v>0.01</c:v>
                </c:pt>
                <c:pt idx="152">
                  <c:v>0.01</c:v>
                </c:pt>
                <c:pt idx="153">
                  <c:v>0.01</c:v>
                </c:pt>
                <c:pt idx="154">
                  <c:v>0</c:v>
                </c:pt>
                <c:pt idx="155">
                  <c:v>0</c:v>
                </c:pt>
              </c:numCache>
            </c:numRef>
          </c:xVal>
          <c:yVal>
            <c:numRef>
              <c:f>'8'!$C$3:$C$158</c:f>
              <c:numCache>
                <c:formatCode>General</c:formatCode>
                <c:ptCount val="156"/>
                <c:pt idx="0">
                  <c:v>6.26</c:v>
                </c:pt>
                <c:pt idx="1">
                  <c:v>7.6</c:v>
                </c:pt>
                <c:pt idx="2">
                  <c:v>3.33</c:v>
                </c:pt>
                <c:pt idx="3">
                  <c:v>7.77</c:v>
                </c:pt>
                <c:pt idx="4">
                  <c:v>7.31</c:v>
                </c:pt>
                <c:pt idx="5">
                  <c:v>7.34</c:v>
                </c:pt>
                <c:pt idx="6">
                  <c:v>7.48</c:v>
                </c:pt>
                <c:pt idx="7">
                  <c:v>7.55</c:v>
                </c:pt>
                <c:pt idx="8">
                  <c:v>7.09</c:v>
                </c:pt>
                <c:pt idx="9">
                  <c:v>7.02</c:v>
                </c:pt>
                <c:pt idx="10">
                  <c:v>7.28</c:v>
                </c:pt>
                <c:pt idx="11">
                  <c:v>7.49</c:v>
                </c:pt>
                <c:pt idx="12">
                  <c:v>7.23</c:v>
                </c:pt>
                <c:pt idx="13">
                  <c:v>5.43</c:v>
                </c:pt>
                <c:pt idx="14">
                  <c:v>7.05</c:v>
                </c:pt>
                <c:pt idx="15">
                  <c:v>6.99</c:v>
                </c:pt>
                <c:pt idx="16">
                  <c:v>4.67</c:v>
                </c:pt>
                <c:pt idx="17">
                  <c:v>6.17</c:v>
                </c:pt>
                <c:pt idx="18">
                  <c:v>7.25</c:v>
                </c:pt>
                <c:pt idx="19">
                  <c:v>6.92</c:v>
                </c:pt>
                <c:pt idx="20">
                  <c:v>5.21</c:v>
                </c:pt>
                <c:pt idx="21">
                  <c:v>6.83</c:v>
                </c:pt>
                <c:pt idx="22">
                  <c:v>6.59</c:v>
                </c:pt>
                <c:pt idx="23">
                  <c:v>3.78</c:v>
                </c:pt>
                <c:pt idx="24">
                  <c:v>6.37</c:v>
                </c:pt>
                <c:pt idx="25">
                  <c:v>4.5199999999999996</c:v>
                </c:pt>
                <c:pt idx="26">
                  <c:v>5.08</c:v>
                </c:pt>
                <c:pt idx="27">
                  <c:v>4.3600000000000003</c:v>
                </c:pt>
                <c:pt idx="28">
                  <c:v>4.5199999999999996</c:v>
                </c:pt>
                <c:pt idx="29">
                  <c:v>5.72</c:v>
                </c:pt>
                <c:pt idx="30">
                  <c:v>5.89</c:v>
                </c:pt>
                <c:pt idx="31">
                  <c:v>4.8</c:v>
                </c:pt>
                <c:pt idx="32">
                  <c:v>6.29</c:v>
                </c:pt>
                <c:pt idx="33">
                  <c:v>5.53</c:v>
                </c:pt>
                <c:pt idx="34">
                  <c:v>6.73</c:v>
                </c:pt>
                <c:pt idx="35">
                  <c:v>3.23</c:v>
                </c:pt>
                <c:pt idx="36">
                  <c:v>5.47</c:v>
                </c:pt>
                <c:pt idx="37">
                  <c:v>4.21</c:v>
                </c:pt>
                <c:pt idx="38">
                  <c:v>3.46</c:v>
                </c:pt>
                <c:pt idx="39">
                  <c:v>5.32</c:v>
                </c:pt>
                <c:pt idx="40">
                  <c:v>5.89</c:v>
                </c:pt>
                <c:pt idx="41">
                  <c:v>4.46</c:v>
                </c:pt>
                <c:pt idx="42">
                  <c:v>4.47</c:v>
                </c:pt>
                <c:pt idx="43">
                  <c:v>6.11</c:v>
                </c:pt>
                <c:pt idx="44">
                  <c:v>6.38</c:v>
                </c:pt>
                <c:pt idx="45">
                  <c:v>6.89</c:v>
                </c:pt>
                <c:pt idx="46">
                  <c:v>4.55</c:v>
                </c:pt>
                <c:pt idx="47">
                  <c:v>4.91</c:v>
                </c:pt>
                <c:pt idx="48">
                  <c:v>7.49</c:v>
                </c:pt>
                <c:pt idx="49">
                  <c:v>4.59</c:v>
                </c:pt>
                <c:pt idx="50">
                  <c:v>6.2</c:v>
                </c:pt>
                <c:pt idx="51">
                  <c:v>5.63</c:v>
                </c:pt>
                <c:pt idx="52">
                  <c:v>3.6</c:v>
                </c:pt>
                <c:pt idx="53">
                  <c:v>5.21</c:v>
                </c:pt>
                <c:pt idx="54">
                  <c:v>5.37</c:v>
                </c:pt>
                <c:pt idx="55">
                  <c:v>5.43</c:v>
                </c:pt>
                <c:pt idx="56">
                  <c:v>4.63</c:v>
                </c:pt>
                <c:pt idx="57">
                  <c:v>5.65</c:v>
                </c:pt>
                <c:pt idx="58">
                  <c:v>6.02</c:v>
                </c:pt>
                <c:pt idx="59">
                  <c:v>3.49</c:v>
                </c:pt>
                <c:pt idx="60">
                  <c:v>5.19</c:v>
                </c:pt>
                <c:pt idx="61">
                  <c:v>6.45</c:v>
                </c:pt>
                <c:pt idx="62">
                  <c:v>4.29</c:v>
                </c:pt>
                <c:pt idx="63">
                  <c:v>5.81</c:v>
                </c:pt>
                <c:pt idx="64">
                  <c:v>4.53</c:v>
                </c:pt>
                <c:pt idx="65">
                  <c:v>7.17</c:v>
                </c:pt>
                <c:pt idx="66">
                  <c:v>6.3</c:v>
                </c:pt>
                <c:pt idx="67">
                  <c:v>6.03</c:v>
                </c:pt>
                <c:pt idx="68">
                  <c:v>4.9400000000000004</c:v>
                </c:pt>
                <c:pt idx="69">
                  <c:v>4.91</c:v>
                </c:pt>
                <c:pt idx="70">
                  <c:v>4.8099999999999996</c:v>
                </c:pt>
                <c:pt idx="71">
                  <c:v>4.49</c:v>
                </c:pt>
                <c:pt idx="72">
                  <c:v>4.4400000000000004</c:v>
                </c:pt>
                <c:pt idx="73">
                  <c:v>4.1100000000000003</c:v>
                </c:pt>
                <c:pt idx="74">
                  <c:v>4.09</c:v>
                </c:pt>
                <c:pt idx="75">
                  <c:v>4.0199999999999996</c:v>
                </c:pt>
                <c:pt idx="76">
                  <c:v>3.8</c:v>
                </c:pt>
                <c:pt idx="77">
                  <c:v>3.66</c:v>
                </c:pt>
                <c:pt idx="78">
                  <c:v>3.41</c:v>
                </c:pt>
                <c:pt idx="79">
                  <c:v>2.85</c:v>
                </c:pt>
                <c:pt idx="80">
                  <c:v>5.74</c:v>
                </c:pt>
                <c:pt idx="81">
                  <c:v>5.86</c:v>
                </c:pt>
                <c:pt idx="82">
                  <c:v>5.52</c:v>
                </c:pt>
                <c:pt idx="83">
                  <c:v>4.3499999999999996</c:v>
                </c:pt>
                <c:pt idx="84">
                  <c:v>7.14</c:v>
                </c:pt>
                <c:pt idx="85">
                  <c:v>3.97</c:v>
                </c:pt>
                <c:pt idx="86">
                  <c:v>3.38</c:v>
                </c:pt>
                <c:pt idx="87">
                  <c:v>4.88</c:v>
                </c:pt>
                <c:pt idx="88">
                  <c:v>5.21</c:v>
                </c:pt>
                <c:pt idx="89">
                  <c:v>6.44</c:v>
                </c:pt>
                <c:pt idx="90">
                  <c:v>6.35</c:v>
                </c:pt>
                <c:pt idx="91">
                  <c:v>4.7</c:v>
                </c:pt>
                <c:pt idx="92">
                  <c:v>4.17</c:v>
                </c:pt>
                <c:pt idx="93">
                  <c:v>6.25</c:v>
                </c:pt>
                <c:pt idx="94">
                  <c:v>5.18</c:v>
                </c:pt>
                <c:pt idx="95">
                  <c:v>6.6</c:v>
                </c:pt>
                <c:pt idx="96">
                  <c:v>4.68</c:v>
                </c:pt>
                <c:pt idx="97">
                  <c:v>4.7</c:v>
                </c:pt>
                <c:pt idx="98">
                  <c:v>4.1900000000000004</c:v>
                </c:pt>
                <c:pt idx="99">
                  <c:v>4.46</c:v>
                </c:pt>
                <c:pt idx="100">
                  <c:v>6.44</c:v>
                </c:pt>
                <c:pt idx="101">
                  <c:v>5.89</c:v>
                </c:pt>
                <c:pt idx="102">
                  <c:v>4.6399999999999997</c:v>
                </c:pt>
                <c:pt idx="103">
                  <c:v>4.8</c:v>
                </c:pt>
                <c:pt idx="104">
                  <c:v>6.12</c:v>
                </c:pt>
                <c:pt idx="105">
                  <c:v>4.72</c:v>
                </c:pt>
                <c:pt idx="106">
                  <c:v>4.5599999999999996</c:v>
                </c:pt>
                <c:pt idx="107">
                  <c:v>5.78</c:v>
                </c:pt>
                <c:pt idx="108">
                  <c:v>5.94</c:v>
                </c:pt>
                <c:pt idx="109">
                  <c:v>5.9</c:v>
                </c:pt>
                <c:pt idx="110">
                  <c:v>4.3899999999999997</c:v>
                </c:pt>
                <c:pt idx="111">
                  <c:v>4.71</c:v>
                </c:pt>
                <c:pt idx="112">
                  <c:v>6.09</c:v>
                </c:pt>
                <c:pt idx="113">
                  <c:v>6.18</c:v>
                </c:pt>
                <c:pt idx="114">
                  <c:v>4.51</c:v>
                </c:pt>
                <c:pt idx="115">
                  <c:v>4.42</c:v>
                </c:pt>
                <c:pt idx="116">
                  <c:v>4.37</c:v>
                </c:pt>
                <c:pt idx="117">
                  <c:v>4.37</c:v>
                </c:pt>
                <c:pt idx="118">
                  <c:v>6.32</c:v>
                </c:pt>
                <c:pt idx="119">
                  <c:v>6.15</c:v>
                </c:pt>
                <c:pt idx="120">
                  <c:v>5.29</c:v>
                </c:pt>
                <c:pt idx="121">
                  <c:v>5</c:v>
                </c:pt>
                <c:pt idx="122">
                  <c:v>5.04</c:v>
                </c:pt>
                <c:pt idx="123">
                  <c:v>3.08</c:v>
                </c:pt>
                <c:pt idx="124">
                  <c:v>6.85</c:v>
                </c:pt>
                <c:pt idx="125">
                  <c:v>3.93</c:v>
                </c:pt>
                <c:pt idx="126">
                  <c:v>5.27</c:v>
                </c:pt>
                <c:pt idx="127">
                  <c:v>5.6</c:v>
                </c:pt>
                <c:pt idx="128">
                  <c:v>6.05</c:v>
                </c:pt>
                <c:pt idx="129">
                  <c:v>5.29</c:v>
                </c:pt>
                <c:pt idx="130">
                  <c:v>6.22</c:v>
                </c:pt>
                <c:pt idx="131">
                  <c:v>5.2</c:v>
                </c:pt>
                <c:pt idx="132">
                  <c:v>5.89</c:v>
                </c:pt>
                <c:pt idx="133">
                  <c:v>5.7</c:v>
                </c:pt>
                <c:pt idx="134">
                  <c:v>5.25</c:v>
                </c:pt>
                <c:pt idx="135">
                  <c:v>3.98</c:v>
                </c:pt>
                <c:pt idx="136">
                  <c:v>4.72</c:v>
                </c:pt>
                <c:pt idx="137">
                  <c:v>5.65</c:v>
                </c:pt>
                <c:pt idx="138">
                  <c:v>6.13</c:v>
                </c:pt>
                <c:pt idx="139">
                  <c:v>5.69</c:v>
                </c:pt>
                <c:pt idx="140">
                  <c:v>6.01</c:v>
                </c:pt>
                <c:pt idx="141">
                  <c:v>3.2</c:v>
                </c:pt>
                <c:pt idx="142">
                  <c:v>5.27</c:v>
                </c:pt>
                <c:pt idx="143">
                  <c:v>5.19</c:v>
                </c:pt>
                <c:pt idx="144">
                  <c:v>5.43</c:v>
                </c:pt>
                <c:pt idx="145">
                  <c:v>5.26</c:v>
                </c:pt>
                <c:pt idx="146">
                  <c:v>5.34</c:v>
                </c:pt>
                <c:pt idx="147">
                  <c:v>6.19</c:v>
                </c:pt>
                <c:pt idx="148">
                  <c:v>5.76</c:v>
                </c:pt>
                <c:pt idx="149">
                  <c:v>6.07</c:v>
                </c:pt>
                <c:pt idx="150">
                  <c:v>4.33</c:v>
                </c:pt>
                <c:pt idx="151">
                  <c:v>6.2</c:v>
                </c:pt>
                <c:pt idx="152">
                  <c:v>5.39</c:v>
                </c:pt>
                <c:pt idx="153">
                  <c:v>6.1</c:v>
                </c:pt>
                <c:pt idx="154">
                  <c:v>5.53</c:v>
                </c:pt>
                <c:pt idx="155">
                  <c:v>5.01</c:v>
                </c:pt>
              </c:numCache>
            </c:numRef>
          </c:yVal>
          <c:smooth val="0"/>
          <c:extLst>
            <c:ext xmlns:c16="http://schemas.microsoft.com/office/drawing/2014/chart" uri="{C3380CC4-5D6E-409C-BE32-E72D297353CC}">
              <c16:uniqueId val="{00000000-4598-40CF-8EF2-EB1AB8C663AF}"/>
            </c:ext>
          </c:extLst>
        </c:ser>
        <c:dLbls>
          <c:showLegendKey val="0"/>
          <c:showVal val="0"/>
          <c:showCatName val="0"/>
          <c:showSerName val="0"/>
          <c:showPercent val="0"/>
          <c:showBubbleSize val="0"/>
        </c:dLbls>
        <c:axId val="997387983"/>
        <c:axId val="826478511"/>
      </c:scatterChart>
      <c:valAx>
        <c:axId val="997387983"/>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1" i="0" u="none" strike="noStrike" kern="1200" baseline="0">
                    <a:solidFill>
                      <a:schemeClr val="tx1">
                        <a:lumMod val="65000"/>
                        <a:lumOff val="35000"/>
                      </a:schemeClr>
                    </a:solidFill>
                    <a:latin typeface="Aptos Display" panose="020B0004020202020204" pitchFamily="34" charset="0"/>
                    <a:ea typeface="+mn-ea"/>
                    <a:cs typeface="+mn-cs"/>
                  </a:defRPr>
                </a:pPr>
                <a:r>
                  <a:rPr lang="en-GB" sz="1100" b="1"/>
                  <a:t>Perception of Corruption</a:t>
                </a:r>
              </a:p>
            </c:rich>
          </c:tx>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Aptos Display" panose="020B0004020202020204" pitchFamily="34" charset="0"/>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ptos Display" panose="020B0004020202020204" pitchFamily="34" charset="0"/>
                <a:ea typeface="+mn-ea"/>
                <a:cs typeface="+mn-cs"/>
              </a:defRPr>
            </a:pPr>
            <a:endParaRPr lang="en-US"/>
          </a:p>
        </c:txPr>
        <c:crossAx val="826478511"/>
        <c:crosses val="autoZero"/>
        <c:crossBetween val="midCat"/>
        <c:minorUnit val="5.000000000000001E-2"/>
      </c:valAx>
      <c:valAx>
        <c:axId val="82647851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50" b="1" i="0" u="none" strike="noStrike" kern="1200" baseline="0">
                    <a:solidFill>
                      <a:schemeClr val="tx1">
                        <a:lumMod val="65000"/>
                        <a:lumOff val="35000"/>
                      </a:schemeClr>
                    </a:solidFill>
                    <a:latin typeface="Aptos Display" panose="020B0004020202020204" pitchFamily="34" charset="0"/>
                    <a:ea typeface="+mn-ea"/>
                    <a:cs typeface="+mn-cs"/>
                  </a:defRPr>
                </a:pPr>
                <a:r>
                  <a:rPr lang="en-GB" sz="1050" b="1"/>
                  <a:t>Happiness Score</a:t>
                </a:r>
              </a:p>
            </c:rich>
          </c:tx>
          <c:overlay val="0"/>
          <c:spPr>
            <a:noFill/>
            <a:ln>
              <a:noFill/>
            </a:ln>
            <a:effectLst/>
          </c:spPr>
          <c:txPr>
            <a:bodyPr rot="-5400000" spcFirstLastPara="1" vertOverflow="ellipsis" vert="horz" wrap="square" anchor="ctr" anchorCtr="1"/>
            <a:lstStyle/>
            <a:p>
              <a:pPr>
                <a:defRPr sz="1050" b="1" i="0" u="none" strike="noStrike" kern="1200" baseline="0">
                  <a:solidFill>
                    <a:schemeClr val="tx1">
                      <a:lumMod val="65000"/>
                      <a:lumOff val="35000"/>
                    </a:schemeClr>
                  </a:solidFill>
                  <a:latin typeface="Aptos Display" panose="020B0004020202020204" pitchFamily="34" charset="0"/>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ptos Display" panose="020B0004020202020204" pitchFamily="34" charset="0"/>
                <a:ea typeface="+mn-ea"/>
                <a:cs typeface="+mn-cs"/>
              </a:defRPr>
            </a:pPr>
            <a:endParaRPr lang="en-US"/>
          </a:p>
        </c:txPr>
        <c:crossAx val="997387983"/>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ptos Display" panose="020B0004020202020204" pitchFamily="34"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435477213750667"/>
          <c:y val="7.8928509527604607E-2"/>
          <c:w val="0.88380796150481189"/>
          <c:h val="0.84240984888436288"/>
        </c:manualLayout>
      </c:layout>
      <c:barChart>
        <c:barDir val="col"/>
        <c:grouping val="clustered"/>
        <c:varyColors val="0"/>
        <c:ser>
          <c:idx val="0"/>
          <c:order val="0"/>
          <c:tx>
            <c:strRef>
              <c:f>'9'!$K$8</c:f>
              <c:strCache>
                <c:ptCount val="1"/>
                <c:pt idx="0">
                  <c:v>average_happiness</c:v>
                </c:pt>
              </c:strCache>
            </c:strRef>
          </c:tx>
          <c:spPr>
            <a:solidFill>
              <a:schemeClr val="accent1"/>
            </a:solidFill>
            <a:ln>
              <a:noFill/>
            </a:ln>
            <a:effectLst/>
          </c:spPr>
          <c:invertIfNegative val="0"/>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338-4ABE-906E-A5E8E3A829EA}"/>
                </c:ext>
              </c:extLst>
            </c:dLbl>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338-4ABE-906E-A5E8E3A829EA}"/>
                </c:ext>
              </c:extLst>
            </c:dLbl>
            <c:spPr>
              <a:noFill/>
              <a:ln>
                <a:noFill/>
              </a:ln>
              <a:effectLst/>
            </c:spPr>
            <c:txPr>
              <a:bodyPr rot="0" spcFirstLastPara="1" vertOverflow="ellipsis" vert="horz" wrap="square" anchor="ctr" anchorCtr="1"/>
              <a:lstStyle/>
              <a:p>
                <a:pPr>
                  <a:defRPr sz="900" b="1" i="0" u="none" strike="noStrike" kern="1200" baseline="0">
                    <a:solidFill>
                      <a:schemeClr val="tx1">
                        <a:lumMod val="75000"/>
                        <a:lumOff val="25000"/>
                      </a:schemeClr>
                    </a:solidFill>
                    <a:latin typeface="Aptos Display" panose="020B0004020202020204" pitchFamily="34"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'9'!$J$9:$J$10</c:f>
              <c:strCache>
                <c:ptCount val="2"/>
                <c:pt idx="0">
                  <c:v>Above Average</c:v>
                </c:pt>
                <c:pt idx="1">
                  <c:v>Below Average</c:v>
                </c:pt>
              </c:strCache>
            </c:strRef>
          </c:cat>
          <c:val>
            <c:numRef>
              <c:f>'9'!$K$9:$K$10</c:f>
              <c:numCache>
                <c:formatCode>General</c:formatCode>
                <c:ptCount val="2"/>
                <c:pt idx="0">
                  <c:v>5.46</c:v>
                </c:pt>
                <c:pt idx="1">
                  <c:v>5.36</c:v>
                </c:pt>
              </c:numCache>
            </c:numRef>
          </c:val>
          <c:extLst>
            <c:ext xmlns:c16="http://schemas.microsoft.com/office/drawing/2014/chart" uri="{C3380CC4-5D6E-409C-BE32-E72D297353CC}">
              <c16:uniqueId val="{00000002-E338-4ABE-906E-A5E8E3A829EA}"/>
            </c:ext>
          </c:extLst>
        </c:ser>
        <c:dLbls>
          <c:showLegendKey val="0"/>
          <c:showVal val="0"/>
          <c:showCatName val="0"/>
          <c:showSerName val="0"/>
          <c:showPercent val="0"/>
          <c:showBubbleSize val="0"/>
        </c:dLbls>
        <c:gapWidth val="219"/>
        <c:overlap val="-27"/>
        <c:axId val="997470575"/>
        <c:axId val="826476111"/>
      </c:barChart>
      <c:catAx>
        <c:axId val="9974705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ptos Display" panose="020B0004020202020204" pitchFamily="34" charset="0"/>
                <a:ea typeface="+mn-ea"/>
                <a:cs typeface="+mn-cs"/>
              </a:defRPr>
            </a:pPr>
            <a:endParaRPr lang="en-US"/>
          </a:p>
        </c:txPr>
        <c:crossAx val="826476111"/>
        <c:crosses val="autoZero"/>
        <c:auto val="1"/>
        <c:lblAlgn val="ctr"/>
        <c:lblOffset val="100"/>
        <c:noMultiLvlLbl val="0"/>
      </c:catAx>
      <c:valAx>
        <c:axId val="82647611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Aptos Display" panose="020B0004020202020204" pitchFamily="34" charset="0"/>
                <a:ea typeface="+mn-ea"/>
                <a:cs typeface="+mn-cs"/>
              </a:defRPr>
            </a:pPr>
            <a:endParaRPr lang="en-US"/>
          </a:p>
        </c:txPr>
        <c:crossAx val="9974705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ptos Display" panose="020B000402020202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'11'!$E$2</c:f>
              <c:strCache>
                <c:ptCount val="1"/>
                <c:pt idx="0">
                  <c:v>happiness_ranking</c:v>
                </c:pt>
              </c:strCache>
            </c:strRef>
          </c:tx>
          <c:spPr>
            <a:ln w="38100" cap="rnd">
              <a:noFill/>
              <a:round/>
            </a:ln>
            <a:effectLst/>
          </c:spPr>
          <c:marker>
            <c:symbol val="circle"/>
            <c:size val="5"/>
            <c:spPr>
              <a:solidFill>
                <a:schemeClr val="accent1"/>
              </a:solidFill>
              <a:ln w="9525">
                <a:solidFill>
                  <a:schemeClr val="accent1"/>
                </a:solidFill>
              </a:ln>
              <a:effectLst/>
            </c:spPr>
          </c:marker>
          <c:xVal>
            <c:numRef>
              <c:f>'11'!$D$3:$D$158</c:f>
              <c:numCache>
                <c:formatCode>General</c:formatCode>
                <c:ptCount val="156"/>
                <c:pt idx="0">
                  <c:v>100</c:v>
                </c:pt>
                <c:pt idx="1">
                  <c:v>99</c:v>
                </c:pt>
                <c:pt idx="2">
                  <c:v>98</c:v>
                </c:pt>
                <c:pt idx="3">
                  <c:v>97</c:v>
                </c:pt>
                <c:pt idx="4">
                  <c:v>97</c:v>
                </c:pt>
                <c:pt idx="5">
                  <c:v>97</c:v>
                </c:pt>
                <c:pt idx="6">
                  <c:v>96</c:v>
                </c:pt>
                <c:pt idx="7">
                  <c:v>95</c:v>
                </c:pt>
                <c:pt idx="8">
                  <c:v>94</c:v>
                </c:pt>
                <c:pt idx="9">
                  <c:v>93</c:v>
                </c:pt>
                <c:pt idx="10">
                  <c:v>92</c:v>
                </c:pt>
                <c:pt idx="11">
                  <c:v>92</c:v>
                </c:pt>
                <c:pt idx="12">
                  <c:v>91</c:v>
                </c:pt>
                <c:pt idx="13">
                  <c:v>90</c:v>
                </c:pt>
                <c:pt idx="14">
                  <c:v>90</c:v>
                </c:pt>
                <c:pt idx="15">
                  <c:v>90</c:v>
                </c:pt>
                <c:pt idx="16">
                  <c:v>89</c:v>
                </c:pt>
                <c:pt idx="17">
                  <c:v>89</c:v>
                </c:pt>
                <c:pt idx="18">
                  <c:v>89</c:v>
                </c:pt>
                <c:pt idx="19">
                  <c:v>89</c:v>
                </c:pt>
                <c:pt idx="20">
                  <c:v>88</c:v>
                </c:pt>
                <c:pt idx="21">
                  <c:v>88</c:v>
                </c:pt>
                <c:pt idx="22">
                  <c:v>87</c:v>
                </c:pt>
                <c:pt idx="23">
                  <c:v>86</c:v>
                </c:pt>
                <c:pt idx="24">
                  <c:v>86</c:v>
                </c:pt>
                <c:pt idx="25">
                  <c:v>85</c:v>
                </c:pt>
                <c:pt idx="26">
                  <c:v>84</c:v>
                </c:pt>
                <c:pt idx="27">
                  <c:v>84</c:v>
                </c:pt>
                <c:pt idx="28">
                  <c:v>84</c:v>
                </c:pt>
                <c:pt idx="29">
                  <c:v>83</c:v>
                </c:pt>
                <c:pt idx="30">
                  <c:v>83</c:v>
                </c:pt>
                <c:pt idx="31">
                  <c:v>82</c:v>
                </c:pt>
                <c:pt idx="32">
                  <c:v>81</c:v>
                </c:pt>
                <c:pt idx="33">
                  <c:v>80</c:v>
                </c:pt>
                <c:pt idx="34">
                  <c:v>80</c:v>
                </c:pt>
                <c:pt idx="35">
                  <c:v>80</c:v>
                </c:pt>
                <c:pt idx="36">
                  <c:v>79</c:v>
                </c:pt>
                <c:pt idx="37">
                  <c:v>78</c:v>
                </c:pt>
                <c:pt idx="38">
                  <c:v>78</c:v>
                </c:pt>
                <c:pt idx="39">
                  <c:v>77</c:v>
                </c:pt>
                <c:pt idx="40">
                  <c:v>76</c:v>
                </c:pt>
                <c:pt idx="41">
                  <c:v>76</c:v>
                </c:pt>
                <c:pt idx="42">
                  <c:v>75</c:v>
                </c:pt>
                <c:pt idx="43">
                  <c:v>74</c:v>
                </c:pt>
                <c:pt idx="44">
                  <c:v>73</c:v>
                </c:pt>
                <c:pt idx="45">
                  <c:v>72</c:v>
                </c:pt>
                <c:pt idx="46">
                  <c:v>72</c:v>
                </c:pt>
                <c:pt idx="47">
                  <c:v>72</c:v>
                </c:pt>
                <c:pt idx="48">
                  <c:v>71</c:v>
                </c:pt>
                <c:pt idx="49">
                  <c:v>70</c:v>
                </c:pt>
                <c:pt idx="50">
                  <c:v>70</c:v>
                </c:pt>
                <c:pt idx="51">
                  <c:v>70</c:v>
                </c:pt>
                <c:pt idx="52">
                  <c:v>69</c:v>
                </c:pt>
                <c:pt idx="53">
                  <c:v>68</c:v>
                </c:pt>
                <c:pt idx="54">
                  <c:v>68</c:v>
                </c:pt>
                <c:pt idx="55">
                  <c:v>67</c:v>
                </c:pt>
                <c:pt idx="56">
                  <c:v>66</c:v>
                </c:pt>
                <c:pt idx="57">
                  <c:v>66</c:v>
                </c:pt>
                <c:pt idx="58">
                  <c:v>65</c:v>
                </c:pt>
                <c:pt idx="59">
                  <c:v>65</c:v>
                </c:pt>
                <c:pt idx="60">
                  <c:v>64</c:v>
                </c:pt>
                <c:pt idx="61">
                  <c:v>63</c:v>
                </c:pt>
                <c:pt idx="62">
                  <c:v>63</c:v>
                </c:pt>
                <c:pt idx="63">
                  <c:v>63</c:v>
                </c:pt>
                <c:pt idx="64">
                  <c:v>62</c:v>
                </c:pt>
                <c:pt idx="65">
                  <c:v>62</c:v>
                </c:pt>
                <c:pt idx="66">
                  <c:v>62</c:v>
                </c:pt>
                <c:pt idx="67">
                  <c:v>62</c:v>
                </c:pt>
                <c:pt idx="68">
                  <c:v>61</c:v>
                </c:pt>
                <c:pt idx="69">
                  <c:v>61</c:v>
                </c:pt>
                <c:pt idx="70">
                  <c:v>60</c:v>
                </c:pt>
                <c:pt idx="71">
                  <c:v>59</c:v>
                </c:pt>
                <c:pt idx="72">
                  <c:v>59</c:v>
                </c:pt>
                <c:pt idx="73">
                  <c:v>59</c:v>
                </c:pt>
                <c:pt idx="74">
                  <c:v>58</c:v>
                </c:pt>
                <c:pt idx="75">
                  <c:v>58</c:v>
                </c:pt>
                <c:pt idx="76">
                  <c:v>57</c:v>
                </c:pt>
                <c:pt idx="77">
                  <c:v>56</c:v>
                </c:pt>
                <c:pt idx="78">
                  <c:v>56</c:v>
                </c:pt>
                <c:pt idx="79">
                  <c:v>56</c:v>
                </c:pt>
                <c:pt idx="80">
                  <c:v>55</c:v>
                </c:pt>
                <c:pt idx="81">
                  <c:v>55</c:v>
                </c:pt>
                <c:pt idx="82">
                  <c:v>55</c:v>
                </c:pt>
                <c:pt idx="83">
                  <c:v>55</c:v>
                </c:pt>
                <c:pt idx="84">
                  <c:v>54</c:v>
                </c:pt>
                <c:pt idx="85">
                  <c:v>53</c:v>
                </c:pt>
                <c:pt idx="86">
                  <c:v>52</c:v>
                </c:pt>
                <c:pt idx="87">
                  <c:v>52</c:v>
                </c:pt>
                <c:pt idx="88">
                  <c:v>51</c:v>
                </c:pt>
                <c:pt idx="89">
                  <c:v>50</c:v>
                </c:pt>
                <c:pt idx="90">
                  <c:v>50</c:v>
                </c:pt>
                <c:pt idx="91">
                  <c:v>49</c:v>
                </c:pt>
                <c:pt idx="92">
                  <c:v>48</c:v>
                </c:pt>
                <c:pt idx="93">
                  <c:v>47</c:v>
                </c:pt>
                <c:pt idx="94">
                  <c:v>46</c:v>
                </c:pt>
                <c:pt idx="95">
                  <c:v>45</c:v>
                </c:pt>
                <c:pt idx="96">
                  <c:v>44</c:v>
                </c:pt>
                <c:pt idx="97">
                  <c:v>44</c:v>
                </c:pt>
                <c:pt idx="98">
                  <c:v>44</c:v>
                </c:pt>
                <c:pt idx="99">
                  <c:v>43</c:v>
                </c:pt>
                <c:pt idx="100">
                  <c:v>43</c:v>
                </c:pt>
                <c:pt idx="101">
                  <c:v>42</c:v>
                </c:pt>
                <c:pt idx="102">
                  <c:v>41</c:v>
                </c:pt>
                <c:pt idx="103">
                  <c:v>40</c:v>
                </c:pt>
                <c:pt idx="104">
                  <c:v>40</c:v>
                </c:pt>
                <c:pt idx="105">
                  <c:v>39</c:v>
                </c:pt>
                <c:pt idx="106">
                  <c:v>38</c:v>
                </c:pt>
                <c:pt idx="107">
                  <c:v>37</c:v>
                </c:pt>
                <c:pt idx="108">
                  <c:v>36</c:v>
                </c:pt>
                <c:pt idx="109">
                  <c:v>35</c:v>
                </c:pt>
                <c:pt idx="110">
                  <c:v>35</c:v>
                </c:pt>
                <c:pt idx="111">
                  <c:v>34</c:v>
                </c:pt>
                <c:pt idx="112">
                  <c:v>33</c:v>
                </c:pt>
                <c:pt idx="113">
                  <c:v>32</c:v>
                </c:pt>
                <c:pt idx="114">
                  <c:v>31</c:v>
                </c:pt>
                <c:pt idx="115">
                  <c:v>30</c:v>
                </c:pt>
                <c:pt idx="116">
                  <c:v>29</c:v>
                </c:pt>
                <c:pt idx="117">
                  <c:v>28</c:v>
                </c:pt>
                <c:pt idx="118">
                  <c:v>27</c:v>
                </c:pt>
                <c:pt idx="119">
                  <c:v>27</c:v>
                </c:pt>
                <c:pt idx="120">
                  <c:v>27</c:v>
                </c:pt>
                <c:pt idx="121">
                  <c:v>26</c:v>
                </c:pt>
                <c:pt idx="122">
                  <c:v>25</c:v>
                </c:pt>
                <c:pt idx="123">
                  <c:v>25</c:v>
                </c:pt>
                <c:pt idx="124">
                  <c:v>24</c:v>
                </c:pt>
                <c:pt idx="125">
                  <c:v>23</c:v>
                </c:pt>
                <c:pt idx="126">
                  <c:v>23</c:v>
                </c:pt>
                <c:pt idx="127">
                  <c:v>22</c:v>
                </c:pt>
                <c:pt idx="128">
                  <c:v>21</c:v>
                </c:pt>
                <c:pt idx="129">
                  <c:v>21</c:v>
                </c:pt>
                <c:pt idx="130">
                  <c:v>20</c:v>
                </c:pt>
                <c:pt idx="131">
                  <c:v>20</c:v>
                </c:pt>
                <c:pt idx="132">
                  <c:v>19</c:v>
                </c:pt>
                <c:pt idx="133">
                  <c:v>18</c:v>
                </c:pt>
                <c:pt idx="134">
                  <c:v>17</c:v>
                </c:pt>
                <c:pt idx="135">
                  <c:v>16</c:v>
                </c:pt>
                <c:pt idx="136">
                  <c:v>16</c:v>
                </c:pt>
                <c:pt idx="137">
                  <c:v>15</c:v>
                </c:pt>
                <c:pt idx="138">
                  <c:v>14</c:v>
                </c:pt>
                <c:pt idx="139">
                  <c:v>14</c:v>
                </c:pt>
                <c:pt idx="140">
                  <c:v>13</c:v>
                </c:pt>
                <c:pt idx="141">
                  <c:v>12</c:v>
                </c:pt>
                <c:pt idx="142">
                  <c:v>12</c:v>
                </c:pt>
                <c:pt idx="143">
                  <c:v>11</c:v>
                </c:pt>
                <c:pt idx="144">
                  <c:v>10</c:v>
                </c:pt>
                <c:pt idx="145">
                  <c:v>9</c:v>
                </c:pt>
                <c:pt idx="146">
                  <c:v>9</c:v>
                </c:pt>
                <c:pt idx="147">
                  <c:v>9</c:v>
                </c:pt>
                <c:pt idx="148">
                  <c:v>8</c:v>
                </c:pt>
                <c:pt idx="149">
                  <c:v>7</c:v>
                </c:pt>
                <c:pt idx="150">
                  <c:v>6</c:v>
                </c:pt>
                <c:pt idx="151">
                  <c:v>5</c:v>
                </c:pt>
                <c:pt idx="152">
                  <c:v>4</c:v>
                </c:pt>
                <c:pt idx="153">
                  <c:v>3</c:v>
                </c:pt>
                <c:pt idx="154">
                  <c:v>2</c:v>
                </c:pt>
                <c:pt idx="155">
                  <c:v>1</c:v>
                </c:pt>
              </c:numCache>
            </c:numRef>
          </c:xVal>
          <c:yVal>
            <c:numRef>
              <c:f>'11'!$E$3:$E$158</c:f>
              <c:numCache>
                <c:formatCode>General</c:formatCode>
                <c:ptCount val="156"/>
                <c:pt idx="0">
                  <c:v>108</c:v>
                </c:pt>
                <c:pt idx="1">
                  <c:v>122</c:v>
                </c:pt>
                <c:pt idx="2">
                  <c:v>103</c:v>
                </c:pt>
                <c:pt idx="3">
                  <c:v>87</c:v>
                </c:pt>
                <c:pt idx="4">
                  <c:v>120</c:v>
                </c:pt>
                <c:pt idx="5">
                  <c:v>115</c:v>
                </c:pt>
                <c:pt idx="6">
                  <c:v>132</c:v>
                </c:pt>
                <c:pt idx="7">
                  <c:v>130</c:v>
                </c:pt>
                <c:pt idx="8">
                  <c:v>68</c:v>
                </c:pt>
                <c:pt idx="9">
                  <c:v>117</c:v>
                </c:pt>
                <c:pt idx="10">
                  <c:v>131</c:v>
                </c:pt>
                <c:pt idx="11">
                  <c:v>109</c:v>
                </c:pt>
                <c:pt idx="12">
                  <c:v>129</c:v>
                </c:pt>
                <c:pt idx="13">
                  <c:v>131</c:v>
                </c:pt>
                <c:pt idx="14">
                  <c:v>133</c:v>
                </c:pt>
                <c:pt idx="15">
                  <c:v>126</c:v>
                </c:pt>
                <c:pt idx="16">
                  <c:v>111</c:v>
                </c:pt>
                <c:pt idx="17">
                  <c:v>127</c:v>
                </c:pt>
                <c:pt idx="18">
                  <c:v>119</c:v>
                </c:pt>
                <c:pt idx="19">
                  <c:v>125</c:v>
                </c:pt>
                <c:pt idx="20">
                  <c:v>100</c:v>
                </c:pt>
                <c:pt idx="21">
                  <c:v>118</c:v>
                </c:pt>
                <c:pt idx="22">
                  <c:v>134</c:v>
                </c:pt>
                <c:pt idx="23">
                  <c:v>121</c:v>
                </c:pt>
                <c:pt idx="24">
                  <c:v>83</c:v>
                </c:pt>
                <c:pt idx="25">
                  <c:v>112</c:v>
                </c:pt>
                <c:pt idx="26">
                  <c:v>128</c:v>
                </c:pt>
                <c:pt idx="27">
                  <c:v>114</c:v>
                </c:pt>
                <c:pt idx="28">
                  <c:v>84</c:v>
                </c:pt>
                <c:pt idx="29">
                  <c:v>107</c:v>
                </c:pt>
                <c:pt idx="30">
                  <c:v>101</c:v>
                </c:pt>
                <c:pt idx="31">
                  <c:v>123</c:v>
                </c:pt>
                <c:pt idx="32">
                  <c:v>116</c:v>
                </c:pt>
                <c:pt idx="33">
                  <c:v>94</c:v>
                </c:pt>
                <c:pt idx="34">
                  <c:v>89</c:v>
                </c:pt>
                <c:pt idx="35">
                  <c:v>77</c:v>
                </c:pt>
                <c:pt idx="36">
                  <c:v>100</c:v>
                </c:pt>
                <c:pt idx="37">
                  <c:v>96</c:v>
                </c:pt>
                <c:pt idx="38">
                  <c:v>83</c:v>
                </c:pt>
                <c:pt idx="39">
                  <c:v>99</c:v>
                </c:pt>
                <c:pt idx="40">
                  <c:v>65</c:v>
                </c:pt>
                <c:pt idx="41">
                  <c:v>75</c:v>
                </c:pt>
                <c:pt idx="42">
                  <c:v>98</c:v>
                </c:pt>
                <c:pt idx="43">
                  <c:v>79</c:v>
                </c:pt>
                <c:pt idx="44">
                  <c:v>85</c:v>
                </c:pt>
                <c:pt idx="45">
                  <c:v>66</c:v>
                </c:pt>
                <c:pt idx="46">
                  <c:v>63</c:v>
                </c:pt>
                <c:pt idx="47">
                  <c:v>74</c:v>
                </c:pt>
                <c:pt idx="48">
                  <c:v>81</c:v>
                </c:pt>
                <c:pt idx="49">
                  <c:v>110</c:v>
                </c:pt>
                <c:pt idx="50">
                  <c:v>68</c:v>
                </c:pt>
                <c:pt idx="51">
                  <c:v>90</c:v>
                </c:pt>
                <c:pt idx="52">
                  <c:v>106</c:v>
                </c:pt>
                <c:pt idx="53">
                  <c:v>104</c:v>
                </c:pt>
                <c:pt idx="54">
                  <c:v>83</c:v>
                </c:pt>
                <c:pt idx="55">
                  <c:v>37</c:v>
                </c:pt>
                <c:pt idx="56">
                  <c:v>53</c:v>
                </c:pt>
                <c:pt idx="57">
                  <c:v>91</c:v>
                </c:pt>
                <c:pt idx="58">
                  <c:v>113</c:v>
                </c:pt>
                <c:pt idx="59">
                  <c:v>64</c:v>
                </c:pt>
                <c:pt idx="60">
                  <c:v>47</c:v>
                </c:pt>
                <c:pt idx="61">
                  <c:v>86</c:v>
                </c:pt>
                <c:pt idx="62">
                  <c:v>70</c:v>
                </c:pt>
                <c:pt idx="63">
                  <c:v>60</c:v>
                </c:pt>
                <c:pt idx="64">
                  <c:v>71</c:v>
                </c:pt>
                <c:pt idx="65">
                  <c:v>59</c:v>
                </c:pt>
                <c:pt idx="66">
                  <c:v>30</c:v>
                </c:pt>
                <c:pt idx="67">
                  <c:v>9</c:v>
                </c:pt>
                <c:pt idx="68">
                  <c:v>57</c:v>
                </c:pt>
                <c:pt idx="69">
                  <c:v>124</c:v>
                </c:pt>
                <c:pt idx="70">
                  <c:v>68</c:v>
                </c:pt>
                <c:pt idx="71">
                  <c:v>72</c:v>
                </c:pt>
                <c:pt idx="72">
                  <c:v>59</c:v>
                </c:pt>
                <c:pt idx="73">
                  <c:v>105</c:v>
                </c:pt>
                <c:pt idx="74">
                  <c:v>58</c:v>
                </c:pt>
                <c:pt idx="75">
                  <c:v>95</c:v>
                </c:pt>
                <c:pt idx="76">
                  <c:v>62</c:v>
                </c:pt>
                <c:pt idx="77">
                  <c:v>46</c:v>
                </c:pt>
                <c:pt idx="78">
                  <c:v>76</c:v>
                </c:pt>
                <c:pt idx="79">
                  <c:v>45</c:v>
                </c:pt>
                <c:pt idx="80">
                  <c:v>63</c:v>
                </c:pt>
                <c:pt idx="81">
                  <c:v>46</c:v>
                </c:pt>
                <c:pt idx="82">
                  <c:v>27</c:v>
                </c:pt>
                <c:pt idx="83">
                  <c:v>67</c:v>
                </c:pt>
                <c:pt idx="84">
                  <c:v>57</c:v>
                </c:pt>
                <c:pt idx="85">
                  <c:v>31</c:v>
                </c:pt>
                <c:pt idx="86">
                  <c:v>88</c:v>
                </c:pt>
                <c:pt idx="87">
                  <c:v>20</c:v>
                </c:pt>
                <c:pt idx="88">
                  <c:v>35</c:v>
                </c:pt>
                <c:pt idx="89">
                  <c:v>92</c:v>
                </c:pt>
                <c:pt idx="90">
                  <c:v>41</c:v>
                </c:pt>
                <c:pt idx="91">
                  <c:v>78</c:v>
                </c:pt>
                <c:pt idx="92">
                  <c:v>38</c:v>
                </c:pt>
                <c:pt idx="93">
                  <c:v>50</c:v>
                </c:pt>
                <c:pt idx="94">
                  <c:v>83</c:v>
                </c:pt>
                <c:pt idx="95">
                  <c:v>24</c:v>
                </c:pt>
                <c:pt idx="96">
                  <c:v>22</c:v>
                </c:pt>
                <c:pt idx="97">
                  <c:v>73</c:v>
                </c:pt>
                <c:pt idx="98">
                  <c:v>55</c:v>
                </c:pt>
                <c:pt idx="99">
                  <c:v>59</c:v>
                </c:pt>
                <c:pt idx="100">
                  <c:v>110</c:v>
                </c:pt>
                <c:pt idx="101">
                  <c:v>102</c:v>
                </c:pt>
                <c:pt idx="102">
                  <c:v>80</c:v>
                </c:pt>
                <c:pt idx="103">
                  <c:v>47</c:v>
                </c:pt>
                <c:pt idx="104">
                  <c:v>17</c:v>
                </c:pt>
                <c:pt idx="105">
                  <c:v>97</c:v>
                </c:pt>
                <c:pt idx="106">
                  <c:v>56</c:v>
                </c:pt>
                <c:pt idx="107">
                  <c:v>26</c:v>
                </c:pt>
                <c:pt idx="108">
                  <c:v>62</c:v>
                </c:pt>
                <c:pt idx="109">
                  <c:v>93</c:v>
                </c:pt>
                <c:pt idx="110">
                  <c:v>71</c:v>
                </c:pt>
                <c:pt idx="111">
                  <c:v>74</c:v>
                </c:pt>
                <c:pt idx="112">
                  <c:v>48</c:v>
                </c:pt>
                <c:pt idx="113">
                  <c:v>44</c:v>
                </c:pt>
                <c:pt idx="114">
                  <c:v>82</c:v>
                </c:pt>
                <c:pt idx="115">
                  <c:v>8</c:v>
                </c:pt>
                <c:pt idx="116">
                  <c:v>52</c:v>
                </c:pt>
                <c:pt idx="117">
                  <c:v>19</c:v>
                </c:pt>
                <c:pt idx="118">
                  <c:v>33</c:v>
                </c:pt>
                <c:pt idx="119">
                  <c:v>51</c:v>
                </c:pt>
                <c:pt idx="120">
                  <c:v>44</c:v>
                </c:pt>
                <c:pt idx="121">
                  <c:v>31</c:v>
                </c:pt>
                <c:pt idx="122">
                  <c:v>61</c:v>
                </c:pt>
                <c:pt idx="123">
                  <c:v>54</c:v>
                </c:pt>
                <c:pt idx="124">
                  <c:v>34</c:v>
                </c:pt>
                <c:pt idx="125">
                  <c:v>69</c:v>
                </c:pt>
                <c:pt idx="126">
                  <c:v>13</c:v>
                </c:pt>
                <c:pt idx="127">
                  <c:v>4</c:v>
                </c:pt>
                <c:pt idx="128">
                  <c:v>50</c:v>
                </c:pt>
                <c:pt idx="129">
                  <c:v>43</c:v>
                </c:pt>
                <c:pt idx="130">
                  <c:v>49</c:v>
                </c:pt>
                <c:pt idx="131">
                  <c:v>28</c:v>
                </c:pt>
                <c:pt idx="132">
                  <c:v>36</c:v>
                </c:pt>
                <c:pt idx="133">
                  <c:v>11</c:v>
                </c:pt>
                <c:pt idx="134">
                  <c:v>5</c:v>
                </c:pt>
                <c:pt idx="135">
                  <c:v>3</c:v>
                </c:pt>
                <c:pt idx="136">
                  <c:v>25</c:v>
                </c:pt>
                <c:pt idx="137">
                  <c:v>23</c:v>
                </c:pt>
                <c:pt idx="138">
                  <c:v>21</c:v>
                </c:pt>
                <c:pt idx="139">
                  <c:v>39</c:v>
                </c:pt>
                <c:pt idx="140">
                  <c:v>10</c:v>
                </c:pt>
                <c:pt idx="141">
                  <c:v>35</c:v>
                </c:pt>
                <c:pt idx="142">
                  <c:v>1</c:v>
                </c:pt>
                <c:pt idx="143">
                  <c:v>6</c:v>
                </c:pt>
                <c:pt idx="144">
                  <c:v>18</c:v>
                </c:pt>
                <c:pt idx="145">
                  <c:v>15</c:v>
                </c:pt>
                <c:pt idx="146">
                  <c:v>14</c:v>
                </c:pt>
                <c:pt idx="147">
                  <c:v>27</c:v>
                </c:pt>
                <c:pt idx="148">
                  <c:v>32</c:v>
                </c:pt>
                <c:pt idx="149">
                  <c:v>7</c:v>
                </c:pt>
                <c:pt idx="150">
                  <c:v>40</c:v>
                </c:pt>
                <c:pt idx="151">
                  <c:v>29</c:v>
                </c:pt>
                <c:pt idx="152">
                  <c:v>16</c:v>
                </c:pt>
                <c:pt idx="153">
                  <c:v>12</c:v>
                </c:pt>
                <c:pt idx="154">
                  <c:v>2</c:v>
                </c:pt>
                <c:pt idx="155">
                  <c:v>42</c:v>
                </c:pt>
              </c:numCache>
            </c:numRef>
          </c:yVal>
          <c:smooth val="0"/>
          <c:extLst>
            <c:ext xmlns:c16="http://schemas.microsoft.com/office/drawing/2014/chart" uri="{C3380CC4-5D6E-409C-BE32-E72D297353CC}">
              <c16:uniqueId val="{00000000-4701-4437-85DF-45DC7140E462}"/>
            </c:ext>
          </c:extLst>
        </c:ser>
        <c:dLbls>
          <c:showLegendKey val="0"/>
          <c:showVal val="0"/>
          <c:showCatName val="0"/>
          <c:showSerName val="0"/>
          <c:showPercent val="0"/>
          <c:showBubbleSize val="0"/>
        </c:dLbls>
        <c:axId val="997419071"/>
        <c:axId val="826464591"/>
      </c:scatterChart>
      <c:valAx>
        <c:axId val="997419071"/>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1" i="0" u="none" strike="noStrike" kern="1200" baseline="0">
                    <a:solidFill>
                      <a:schemeClr val="tx1">
                        <a:lumMod val="65000"/>
                        <a:lumOff val="35000"/>
                      </a:schemeClr>
                    </a:solidFill>
                    <a:latin typeface="Aptos Display" panose="020B0004020202020204" pitchFamily="34" charset="0"/>
                    <a:ea typeface="+mn-ea"/>
                    <a:cs typeface="+mn-cs"/>
                  </a:defRPr>
                </a:pPr>
                <a:r>
                  <a:rPr lang="en-GB" sz="1100" b="1">
                    <a:latin typeface="Aptos Display" panose="020B0004020202020204" pitchFamily="34" charset="0"/>
                  </a:rPr>
                  <a:t>GDP Ranking</a:t>
                </a:r>
              </a:p>
            </c:rich>
          </c:tx>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Aptos Display" panose="020B0004020202020204" pitchFamily="34" charset="0"/>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Aptos Display" panose="020B0004020202020204" pitchFamily="34" charset="0"/>
                <a:ea typeface="+mn-ea"/>
                <a:cs typeface="+mn-cs"/>
              </a:defRPr>
            </a:pPr>
            <a:endParaRPr lang="en-US"/>
          </a:p>
        </c:txPr>
        <c:crossAx val="826464591"/>
        <c:crosses val="autoZero"/>
        <c:crossBetween val="midCat"/>
      </c:valAx>
      <c:valAx>
        <c:axId val="82646459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1" i="0" u="none" strike="noStrike" kern="1200" baseline="0">
                    <a:solidFill>
                      <a:schemeClr val="tx1">
                        <a:lumMod val="65000"/>
                        <a:lumOff val="35000"/>
                      </a:schemeClr>
                    </a:solidFill>
                    <a:latin typeface="Aptos Display" panose="020B0004020202020204" pitchFamily="34" charset="0"/>
                    <a:ea typeface="+mn-ea"/>
                    <a:cs typeface="+mn-cs"/>
                  </a:defRPr>
                </a:pPr>
                <a:r>
                  <a:rPr lang="en-GB" sz="1100" b="1">
                    <a:latin typeface="Aptos Display" panose="020B0004020202020204" pitchFamily="34" charset="0"/>
                  </a:rPr>
                  <a:t>Happiness</a:t>
                </a:r>
                <a:r>
                  <a:rPr lang="en-GB" sz="1100" b="1" baseline="0">
                    <a:latin typeface="Aptos Display" panose="020B0004020202020204" pitchFamily="34" charset="0"/>
                  </a:rPr>
                  <a:t> Ranking</a:t>
                </a:r>
                <a:endParaRPr lang="en-GB" sz="1100" b="1">
                  <a:latin typeface="Aptos Display" panose="020B0004020202020204" pitchFamily="34" charset="0"/>
                </a:endParaRPr>
              </a:p>
            </c:rich>
          </c:tx>
          <c:layout>
            <c:manualLayout>
              <c:xMode val="edge"/>
              <c:yMode val="edge"/>
              <c:x val="1.0113780025284451E-2"/>
              <c:y val="0.36171958343916688"/>
            </c:manualLayout>
          </c:layout>
          <c:overlay val="0"/>
          <c:spPr>
            <a:noFill/>
            <a:ln>
              <a:noFill/>
            </a:ln>
            <a:effectLst/>
          </c:spPr>
          <c:txPr>
            <a:bodyPr rot="-5400000" spcFirstLastPara="1" vertOverflow="ellipsis" vert="horz" wrap="square" anchor="ctr" anchorCtr="1"/>
            <a:lstStyle/>
            <a:p>
              <a:pPr>
                <a:defRPr sz="1100" b="1" i="0" u="none" strike="noStrike" kern="1200" baseline="0">
                  <a:solidFill>
                    <a:schemeClr val="tx1">
                      <a:lumMod val="65000"/>
                      <a:lumOff val="35000"/>
                    </a:schemeClr>
                  </a:solidFill>
                  <a:latin typeface="Aptos Display" panose="020B0004020202020204" pitchFamily="34" charset="0"/>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997419071"/>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pivotSource>
    <c:name>[excel - SQL queries and visualizations.xlsx]12!PivotTable12</c:name>
    <c:fmtId val="4"/>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s>
    <c:plotArea>
      <c:layout/>
      <c:pieChart>
        <c:varyColors val="1"/>
        <c:ser>
          <c:idx val="0"/>
          <c:order val="0"/>
          <c:tx>
            <c:strRef>
              <c:f>'12'!$H$6</c:f>
              <c:strCache>
                <c:ptCount val="1"/>
                <c:pt idx="0">
                  <c:v>Total</c:v>
                </c:pt>
              </c:strCache>
            </c:strRef>
          </c:tx>
          <c:dPt>
            <c:idx val="0"/>
            <c:bubble3D val="0"/>
            <c:spPr>
              <a:solidFill>
                <a:schemeClr val="accent1">
                  <a:shade val="65000"/>
                </a:schemeClr>
              </a:solidFill>
              <a:ln w="19050">
                <a:solidFill>
                  <a:schemeClr val="lt1"/>
                </a:solidFill>
              </a:ln>
              <a:effectLst/>
            </c:spPr>
            <c:extLst>
              <c:ext xmlns:c16="http://schemas.microsoft.com/office/drawing/2014/chart" uri="{C3380CC4-5D6E-409C-BE32-E72D297353CC}">
                <c16:uniqueId val="{00000001-E5F1-45B7-BC25-9D5AC2AA1357}"/>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E5F1-45B7-BC25-9D5AC2AA1357}"/>
              </c:ext>
            </c:extLst>
          </c:dPt>
          <c:dPt>
            <c:idx val="2"/>
            <c:bubble3D val="0"/>
            <c:spPr>
              <a:solidFill>
                <a:schemeClr val="accent1">
                  <a:tint val="65000"/>
                </a:schemeClr>
              </a:solidFill>
              <a:ln w="19050">
                <a:solidFill>
                  <a:schemeClr val="lt1"/>
                </a:solidFill>
              </a:ln>
              <a:effectLst/>
            </c:spPr>
            <c:extLst>
              <c:ext xmlns:c16="http://schemas.microsoft.com/office/drawing/2014/chart" uri="{C3380CC4-5D6E-409C-BE32-E72D297353CC}">
                <c16:uniqueId val="{00000005-E5F1-45B7-BC25-9D5AC2AA1357}"/>
              </c:ext>
            </c:extLst>
          </c:dPt>
          <c:dLbls>
            <c:dLbl>
              <c:idx val="0"/>
              <c:layout>
                <c:manualLayout>
                  <c:x val="-6.1361010429251898E-2"/>
                  <c:y val="0.1426718185464041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5F1-45B7-BC25-9D5AC2AA1357}"/>
                </c:ext>
              </c:extLst>
            </c:dLbl>
            <c:dLbl>
              <c:idx val="1"/>
              <c:layout>
                <c:manualLayout>
                  <c:x val="-0.15109479370634221"/>
                  <c:y val="7.357080250643757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5F1-45B7-BC25-9D5AC2AA1357}"/>
                </c:ext>
              </c:extLst>
            </c:dLbl>
            <c:dLbl>
              <c:idx val="2"/>
              <c:layout>
                <c:manualLayout>
                  <c:x val="0.13563103223208209"/>
                  <c:y val="-0.1404628979368890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5F1-45B7-BC25-9D5AC2AA1357}"/>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Aptos Display" panose="020B0004020202020204" pitchFamily="34" charset="0"/>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'12'!$G$7:$G$10</c:f>
              <c:strCache>
                <c:ptCount val="3"/>
                <c:pt idx="0">
                  <c:v>High</c:v>
                </c:pt>
                <c:pt idx="1">
                  <c:v>Low</c:v>
                </c:pt>
                <c:pt idx="2">
                  <c:v>Medium</c:v>
                </c:pt>
              </c:strCache>
            </c:strRef>
          </c:cat>
          <c:val>
            <c:numRef>
              <c:f>'12'!$H$7:$H$10</c:f>
              <c:numCache>
                <c:formatCode>0.00%</c:formatCode>
                <c:ptCount val="3"/>
                <c:pt idx="0">
                  <c:v>0.10256410256410256</c:v>
                </c:pt>
                <c:pt idx="1">
                  <c:v>0.22435897435897437</c:v>
                </c:pt>
                <c:pt idx="2">
                  <c:v>0.67307692307692313</c:v>
                </c:pt>
              </c:numCache>
            </c:numRef>
          </c:val>
          <c:extLst>
            <c:ext xmlns:c16="http://schemas.microsoft.com/office/drawing/2014/chart" uri="{C3380CC4-5D6E-409C-BE32-E72D297353CC}">
              <c16:uniqueId val="{00000006-E5F1-45B7-BC25-9D5AC2AA1357}"/>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75700773514421804"/>
          <c:y val="0.3321419951693188"/>
          <c:w val="0.12306281159299531"/>
          <c:h val="0.46273053255447222"/>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ptos Display" panose="020B0004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D6DF52-BD83-41C4-9E3F-D29F6CFECB4C}" type="datetimeFigureOut">
              <a:rPr lang="en-GB" smtClean="0"/>
              <a:t>02/07/2026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A19F3A-0622-4200-9237-5A36683752AA}" type="slidenum">
              <a:rPr lang="en-GB" smtClean="0"/>
              <a:t>‹#›</a:t>
            </a:fld>
            <a:endParaRPr lang="en-GB"/>
          </a:p>
        </p:txBody>
      </p:sp>
    </p:spTree>
    <p:extLst>
      <p:ext uri="{BB962C8B-B14F-4D97-AF65-F5344CB8AC3E}">
        <p14:creationId xmlns:p14="http://schemas.microsoft.com/office/powerpoint/2010/main" val="614957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6A19F3A-0622-4200-9237-5A36683752AA}" type="slidenum">
              <a:rPr lang="en-GB" smtClean="0"/>
              <a:t>1</a:t>
            </a:fld>
            <a:endParaRPr lang="en-GB"/>
          </a:p>
        </p:txBody>
      </p:sp>
    </p:spTree>
    <p:extLst>
      <p:ext uri="{BB962C8B-B14F-4D97-AF65-F5344CB8AC3E}">
        <p14:creationId xmlns:p14="http://schemas.microsoft.com/office/powerpoint/2010/main" val="609300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6A19F3A-0622-4200-9237-5A36683752AA}" type="slidenum">
              <a:rPr lang="en-GB" smtClean="0"/>
              <a:t>4</a:t>
            </a:fld>
            <a:endParaRPr lang="en-GB"/>
          </a:p>
        </p:txBody>
      </p:sp>
    </p:spTree>
    <p:extLst>
      <p:ext uri="{BB962C8B-B14F-4D97-AF65-F5344CB8AC3E}">
        <p14:creationId xmlns:p14="http://schemas.microsoft.com/office/powerpoint/2010/main" val="14858167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6A19F3A-0622-4200-9237-5A36683752AA}" type="slidenum">
              <a:rPr lang="en-GB" smtClean="0"/>
              <a:t>5</a:t>
            </a:fld>
            <a:endParaRPr lang="en-GB"/>
          </a:p>
        </p:txBody>
      </p:sp>
    </p:spTree>
    <p:extLst>
      <p:ext uri="{BB962C8B-B14F-4D97-AF65-F5344CB8AC3E}">
        <p14:creationId xmlns:p14="http://schemas.microsoft.com/office/powerpoint/2010/main" val="736414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dirty="0"/>
          </a:p>
        </p:txBody>
      </p:sp>
      <p:sp>
        <p:nvSpPr>
          <p:cNvPr id="4" name="Slide Number Placeholder 3"/>
          <p:cNvSpPr>
            <a:spLocks noGrp="1"/>
          </p:cNvSpPr>
          <p:nvPr>
            <p:ph type="sldNum" sz="quarter" idx="5"/>
          </p:nvPr>
        </p:nvSpPr>
        <p:spPr/>
        <p:txBody>
          <a:bodyPr/>
          <a:lstStyle/>
          <a:p>
            <a:fld id="{D6A19F3A-0622-4200-9237-5A36683752AA}" type="slidenum">
              <a:rPr lang="en-GB" smtClean="0"/>
              <a:t>13</a:t>
            </a:fld>
            <a:endParaRPr lang="en-GB"/>
          </a:p>
        </p:txBody>
      </p:sp>
    </p:spTree>
    <p:extLst>
      <p:ext uri="{BB962C8B-B14F-4D97-AF65-F5344CB8AC3E}">
        <p14:creationId xmlns:p14="http://schemas.microsoft.com/office/powerpoint/2010/main" val="1713636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6A19F3A-0622-4200-9237-5A36683752AA}" type="slidenum">
              <a:rPr lang="en-GB" smtClean="0"/>
              <a:t>14</a:t>
            </a:fld>
            <a:endParaRPr lang="en-GB"/>
          </a:p>
        </p:txBody>
      </p:sp>
    </p:spTree>
    <p:extLst>
      <p:ext uri="{BB962C8B-B14F-4D97-AF65-F5344CB8AC3E}">
        <p14:creationId xmlns:p14="http://schemas.microsoft.com/office/powerpoint/2010/main" val="2464405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6A19F3A-0622-4200-9237-5A36683752AA}" type="slidenum">
              <a:rPr lang="en-GB" smtClean="0"/>
              <a:t>19</a:t>
            </a:fld>
            <a:endParaRPr lang="en-GB"/>
          </a:p>
        </p:txBody>
      </p:sp>
    </p:spTree>
    <p:extLst>
      <p:ext uri="{BB962C8B-B14F-4D97-AF65-F5344CB8AC3E}">
        <p14:creationId xmlns:p14="http://schemas.microsoft.com/office/powerpoint/2010/main" val="1225675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37BCF11-F51F-4B2D-BD88-E59D4EFCF4A8}" type="datetimeFigureOut">
              <a:rPr lang="en-GB" smtClean="0"/>
              <a:t>02/07/2026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DC73FB-6B98-440B-9D09-7422B15D5C79}"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6248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37BCF11-F51F-4B2D-BD88-E59D4EFCF4A8}" type="datetimeFigureOut">
              <a:rPr lang="en-GB" smtClean="0"/>
              <a:t>02/07/2026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DC73FB-6B98-440B-9D09-7422B15D5C79}" type="slidenum">
              <a:rPr lang="en-GB" smtClean="0"/>
              <a:t>‹#›</a:t>
            </a:fld>
            <a:endParaRPr lang="en-GB"/>
          </a:p>
        </p:txBody>
      </p:sp>
    </p:spTree>
    <p:extLst>
      <p:ext uri="{BB962C8B-B14F-4D97-AF65-F5344CB8AC3E}">
        <p14:creationId xmlns:p14="http://schemas.microsoft.com/office/powerpoint/2010/main" val="3485353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37BCF11-F51F-4B2D-BD88-E59D4EFCF4A8}" type="datetimeFigureOut">
              <a:rPr lang="en-GB" smtClean="0"/>
              <a:t>02/07/2026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DC73FB-6B98-440B-9D09-7422B15D5C79}"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6029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37BCF11-F51F-4B2D-BD88-E59D4EFCF4A8}" type="datetimeFigureOut">
              <a:rPr lang="en-GB" smtClean="0"/>
              <a:t>02/07/2026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DC73FB-6B98-440B-9D09-7422B15D5C79}" type="slidenum">
              <a:rPr lang="en-GB" smtClean="0"/>
              <a:t>‹#›</a:t>
            </a:fld>
            <a:endParaRPr lang="en-GB"/>
          </a:p>
        </p:txBody>
      </p:sp>
    </p:spTree>
    <p:extLst>
      <p:ext uri="{BB962C8B-B14F-4D97-AF65-F5344CB8AC3E}">
        <p14:creationId xmlns:p14="http://schemas.microsoft.com/office/powerpoint/2010/main" val="758212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37BCF11-F51F-4B2D-BD88-E59D4EFCF4A8}" type="datetimeFigureOut">
              <a:rPr lang="en-GB" smtClean="0"/>
              <a:t>02/07/2026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EDC73FB-6B98-440B-9D09-7422B15D5C79}" type="slidenum">
              <a:rPr lang="en-GB" smtClean="0"/>
              <a:t>‹#›</a:t>
            </a:fld>
            <a:endParaRPr lang="en-GB"/>
          </a:p>
        </p:txBody>
      </p:sp>
    </p:spTree>
    <p:extLst>
      <p:ext uri="{BB962C8B-B14F-4D97-AF65-F5344CB8AC3E}">
        <p14:creationId xmlns:p14="http://schemas.microsoft.com/office/powerpoint/2010/main" val="3393640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37BCF11-F51F-4B2D-BD88-E59D4EFCF4A8}" type="datetimeFigureOut">
              <a:rPr lang="en-GB" smtClean="0"/>
              <a:t>02/07/2026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EDC73FB-6B98-440B-9D09-7422B15D5C79}" type="slidenum">
              <a:rPr lang="en-GB" smtClean="0"/>
              <a:t>‹#›</a:t>
            </a:fld>
            <a:endParaRPr lang="en-GB"/>
          </a:p>
        </p:txBody>
      </p:sp>
    </p:spTree>
    <p:extLst>
      <p:ext uri="{BB962C8B-B14F-4D97-AF65-F5344CB8AC3E}">
        <p14:creationId xmlns:p14="http://schemas.microsoft.com/office/powerpoint/2010/main" val="1075887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7" name="Date Placeholder 6"/>
          <p:cNvSpPr>
            <a:spLocks noGrp="1"/>
          </p:cNvSpPr>
          <p:nvPr>
            <p:ph type="dt" sz="half" idx="10"/>
          </p:nvPr>
        </p:nvSpPr>
        <p:spPr/>
        <p:txBody>
          <a:bodyPr/>
          <a:lstStyle/>
          <a:p>
            <a:fld id="{737BCF11-F51F-4B2D-BD88-E59D4EFCF4A8}" type="datetimeFigureOut">
              <a:rPr lang="en-GB" smtClean="0"/>
              <a:t>02/07/2026</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4EDC73FB-6B98-440B-9D09-7422B15D5C79}" type="slidenum">
              <a:rPr lang="en-GB" smtClean="0"/>
              <a:t>‹#›</a:t>
            </a:fld>
            <a:endParaRPr lang="en-GB"/>
          </a:p>
        </p:txBody>
      </p:sp>
    </p:spTree>
    <p:extLst>
      <p:ext uri="{BB962C8B-B14F-4D97-AF65-F5344CB8AC3E}">
        <p14:creationId xmlns:p14="http://schemas.microsoft.com/office/powerpoint/2010/main" val="2123363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GB"/>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37BCF11-F51F-4B2D-BD88-E59D4EFCF4A8}" type="datetimeFigureOut">
              <a:rPr lang="en-GB" smtClean="0"/>
              <a:t>02/07/2026</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EDC73FB-6B98-440B-9D09-7422B15D5C79}" type="slidenum">
              <a:rPr lang="en-GB" smtClean="0"/>
              <a:t>‹#›</a:t>
            </a:fld>
            <a:endParaRPr lang="en-GB"/>
          </a:p>
        </p:txBody>
      </p:sp>
    </p:spTree>
    <p:extLst>
      <p:ext uri="{BB962C8B-B14F-4D97-AF65-F5344CB8AC3E}">
        <p14:creationId xmlns:p14="http://schemas.microsoft.com/office/powerpoint/2010/main" val="2181720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37BCF11-F51F-4B2D-BD88-E59D4EFCF4A8}" type="datetimeFigureOut">
              <a:rPr lang="en-GB" smtClean="0"/>
              <a:t>02/07/2026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DC73FB-6B98-440B-9D09-7422B15D5C79}" type="slidenum">
              <a:rPr lang="en-GB" smtClean="0"/>
              <a:t>‹#›</a:t>
            </a:fld>
            <a:endParaRPr lang="en-GB"/>
          </a:p>
        </p:txBody>
      </p:sp>
    </p:spTree>
    <p:extLst>
      <p:ext uri="{BB962C8B-B14F-4D97-AF65-F5344CB8AC3E}">
        <p14:creationId xmlns:p14="http://schemas.microsoft.com/office/powerpoint/2010/main" val="380114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37BCF11-F51F-4B2D-BD88-E59D4EFCF4A8}" type="datetimeFigureOut">
              <a:rPr lang="en-GB" smtClean="0"/>
              <a:t>02/07/2026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DC73FB-6B98-440B-9D09-7422B15D5C79}" type="slidenum">
              <a:rPr lang="en-GB" smtClean="0"/>
              <a:t>‹#›</a:t>
            </a:fld>
            <a:endParaRPr lang="en-GB"/>
          </a:p>
        </p:txBody>
      </p:sp>
    </p:spTree>
    <p:extLst>
      <p:ext uri="{BB962C8B-B14F-4D97-AF65-F5344CB8AC3E}">
        <p14:creationId xmlns:p14="http://schemas.microsoft.com/office/powerpoint/2010/main" val="3692662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37BCF11-F51F-4B2D-BD88-E59D4EFCF4A8}" type="datetimeFigureOut">
              <a:rPr lang="en-GB" smtClean="0"/>
              <a:t>02/07/2026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DC73FB-6B98-440B-9D09-7422B15D5C79}" type="slidenum">
              <a:rPr lang="en-GB" smtClean="0"/>
              <a:t>‹#›</a:t>
            </a:fld>
            <a:endParaRPr lang="en-GB"/>
          </a:p>
        </p:txBody>
      </p:sp>
    </p:spTree>
    <p:extLst>
      <p:ext uri="{BB962C8B-B14F-4D97-AF65-F5344CB8AC3E}">
        <p14:creationId xmlns:p14="http://schemas.microsoft.com/office/powerpoint/2010/main" val="3973929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37BCF11-F51F-4B2D-BD88-E59D4EFCF4A8}" type="datetimeFigureOut">
              <a:rPr lang="en-GB" smtClean="0"/>
              <a:t>02/07/2026</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EDC73FB-6B98-440B-9D09-7422B15D5C79}"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294870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99000"/>
                <a:satMod val="140000"/>
              </a:schemeClr>
            </a:gs>
            <a:gs pos="65000">
              <a:schemeClr val="bg2">
                <a:tint val="100000"/>
                <a:shade val="80000"/>
                <a:satMod val="130000"/>
              </a:schemeClr>
            </a:gs>
            <a:gs pos="100000">
              <a:schemeClr val="bg2">
                <a:tint val="100000"/>
                <a:shade val="48000"/>
                <a:satMod val="120000"/>
              </a:schemeClr>
            </a:gs>
          </a:gsLst>
          <a:lin ang="16200000" scaled="0"/>
        </a:gradFill>
        <a:effectLst/>
      </p:bgPr>
    </p:bg>
    <p:spTree>
      <p:nvGrpSpPr>
        <p:cNvPr id="1" name=""/>
        <p:cNvGrpSpPr/>
        <p:nvPr/>
      </p:nvGrpSpPr>
      <p:grpSpPr>
        <a:xfrm>
          <a:off x="0" y="0"/>
          <a:ext cx="0" cy="0"/>
          <a:chOff x="0" y="0"/>
          <a:chExt cx="0" cy="0"/>
        </a:xfrm>
      </p:grpSpPr>
      <p:pic>
        <p:nvPicPr>
          <p:cNvPr id="19" name="Picture 18" descr="An illustration of the global population">
            <a:extLst>
              <a:ext uri="{FF2B5EF4-FFF2-40B4-BE49-F238E27FC236}">
                <a16:creationId xmlns:a16="http://schemas.microsoft.com/office/drawing/2014/main" id="{ABE63F1A-8DD6-39E5-EC33-B5619D0DB8A9}"/>
              </a:ext>
            </a:extLst>
          </p:cNvPr>
          <p:cNvPicPr>
            <a:picLocks noChangeAspect="1"/>
          </p:cNvPicPr>
          <p:nvPr/>
        </p:nvPicPr>
        <p:blipFill>
          <a:blip r:embed="rId3">
            <a:duotone>
              <a:prstClr val="black"/>
              <a:schemeClr val="accent1">
                <a:tint val="45000"/>
                <a:satMod val="400000"/>
              </a:schemeClr>
            </a:duotone>
            <a:alphaModFix amt="50000"/>
            <a:extLst>
              <a:ext uri="{BEBA8EAE-BF5A-486C-A8C5-ECC9F3942E4B}">
                <a14:imgProps xmlns:a14="http://schemas.microsoft.com/office/drawing/2010/main">
                  <a14:imgLayer r:embed="rId4">
                    <a14:imgEffect>
                      <a14:colorTemperature colorTemp="11200"/>
                    </a14:imgEffect>
                    <a14:imgEffect>
                      <a14:saturation sat="300000"/>
                    </a14:imgEffect>
                  </a14:imgLayer>
                </a14:imgProps>
              </a:ext>
            </a:extLst>
          </a:blip>
          <a:srcRect/>
          <a:stretch>
            <a:fillRect/>
          </a:stretch>
        </p:blipFill>
        <p:spPr>
          <a:xfrm>
            <a:off x="20" y="9"/>
            <a:ext cx="12191980" cy="6857991"/>
          </a:xfrm>
          <a:prstGeom prst="rect">
            <a:avLst/>
          </a:prstGeom>
        </p:spPr>
      </p:pic>
      <p:sp>
        <p:nvSpPr>
          <p:cNvPr id="2" name="Title 1">
            <a:extLst>
              <a:ext uri="{FF2B5EF4-FFF2-40B4-BE49-F238E27FC236}">
                <a16:creationId xmlns:a16="http://schemas.microsoft.com/office/drawing/2014/main" id="{753A8F89-E979-87F9-D1F8-953000DD777A}"/>
              </a:ext>
            </a:extLst>
          </p:cNvPr>
          <p:cNvSpPr>
            <a:spLocks noGrp="1"/>
          </p:cNvSpPr>
          <p:nvPr>
            <p:ph type="ctrTitle"/>
          </p:nvPr>
        </p:nvSpPr>
        <p:spPr>
          <a:xfrm>
            <a:off x="1097280" y="758952"/>
            <a:ext cx="10058400" cy="3566160"/>
          </a:xfrm>
        </p:spPr>
        <p:txBody>
          <a:bodyPr>
            <a:normAutofit/>
          </a:bodyPr>
          <a:lstStyle/>
          <a:p>
            <a:r>
              <a:rPr lang="en-GB" b="1" dirty="0">
                <a:latin typeface="Aptos Display" panose="020B0004020202020204" pitchFamily="34" charset="0"/>
              </a:rPr>
              <a:t>World Happiness Analysis 2019</a:t>
            </a:r>
          </a:p>
        </p:txBody>
      </p:sp>
      <p:sp>
        <p:nvSpPr>
          <p:cNvPr id="3" name="Subtitle 2">
            <a:extLst>
              <a:ext uri="{FF2B5EF4-FFF2-40B4-BE49-F238E27FC236}">
                <a16:creationId xmlns:a16="http://schemas.microsoft.com/office/drawing/2014/main" id="{332023FE-D8A2-A1F8-2B3F-A10F737C8FBA}"/>
              </a:ext>
            </a:extLst>
          </p:cNvPr>
          <p:cNvSpPr>
            <a:spLocks noGrp="1"/>
          </p:cNvSpPr>
          <p:nvPr>
            <p:ph type="subTitle" idx="1"/>
          </p:nvPr>
        </p:nvSpPr>
        <p:spPr>
          <a:xfrm>
            <a:off x="1100051" y="4455621"/>
            <a:ext cx="10058400" cy="1143000"/>
          </a:xfrm>
        </p:spPr>
        <p:txBody>
          <a:bodyPr>
            <a:normAutofit lnSpcReduction="10000"/>
          </a:bodyPr>
          <a:lstStyle/>
          <a:p>
            <a:pPr algn="r"/>
            <a:r>
              <a:rPr lang="en-GB" sz="1600" dirty="0">
                <a:latin typeface="Aptos Display" panose="020B0004020202020204" pitchFamily="34" charset="0"/>
              </a:rPr>
              <a:t>		</a:t>
            </a:r>
            <a:r>
              <a:rPr lang="en-GB" sz="1800" b="1" cap="none" dirty="0">
                <a:solidFill>
                  <a:schemeClr val="tx1"/>
                </a:solidFill>
                <a:latin typeface="Aptos Display" panose="020B0004020202020204" pitchFamily="34" charset="0"/>
              </a:rPr>
              <a:t>Data Analyst Programme – SQL Project 2</a:t>
            </a:r>
          </a:p>
          <a:p>
            <a:pPr algn="r"/>
            <a:r>
              <a:rPr lang="en-GB" sz="1800" b="1" cap="none" dirty="0">
                <a:solidFill>
                  <a:schemeClr val="tx1"/>
                </a:solidFill>
                <a:latin typeface="Aptos Display" panose="020B0004020202020204" pitchFamily="34" charset="0"/>
              </a:rPr>
              <a:t>	Jessica Casares – Data Analyst</a:t>
            </a:r>
          </a:p>
          <a:p>
            <a:pPr algn="r"/>
            <a:r>
              <a:rPr lang="en-GB" sz="1800" b="1" cap="none" dirty="0">
                <a:solidFill>
                  <a:schemeClr val="tx1"/>
                </a:solidFill>
                <a:latin typeface="Aptos Display" panose="020B0004020202020204" pitchFamily="34" charset="0"/>
              </a:rPr>
              <a:t>June 2026</a:t>
            </a:r>
          </a:p>
        </p:txBody>
      </p:sp>
      <p:cxnSp>
        <p:nvCxnSpPr>
          <p:cNvPr id="23" name="Straight Connector 22">
            <a:extLst>
              <a:ext uri="{FF2B5EF4-FFF2-40B4-BE49-F238E27FC236}">
                <a16:creationId xmlns:a16="http://schemas.microsoft.com/office/drawing/2014/main" id="{0268177E-1445-4DCF-955D-1CAE9B76FF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2">
                <a:alpha val="80000"/>
              </a:schemeClr>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85D52B88-A4AE-4B06-AEFC-8E492B9039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7" name="Rectangle 26">
            <a:extLst>
              <a:ext uri="{FF2B5EF4-FFF2-40B4-BE49-F238E27FC236}">
                <a16:creationId xmlns:a16="http://schemas.microsoft.com/office/drawing/2014/main" id="{CFD6FA94-0FE6-4CC5-BC1A-1F4780CDA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308167998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8E222C6E-286A-1237-9DC1-0E420CC82C99}"/>
              </a:ext>
            </a:extLst>
          </p:cNvPr>
          <p:cNvSpPr>
            <a:spLocks noGrp="1"/>
          </p:cNvSpPr>
          <p:nvPr>
            <p:ph type="title"/>
          </p:nvPr>
        </p:nvSpPr>
        <p:spPr>
          <a:xfrm>
            <a:off x="498949" y="605896"/>
            <a:ext cx="3084844" cy="5646208"/>
          </a:xfrm>
        </p:spPr>
        <p:txBody>
          <a:bodyPr anchor="ctr">
            <a:normAutofit/>
          </a:bodyPr>
          <a:lstStyle/>
          <a:p>
            <a:pPr algn="ctr"/>
            <a:r>
              <a:rPr lang="en-GB" sz="3600" dirty="0">
                <a:solidFill>
                  <a:srgbClr val="FFFFFF"/>
                </a:solidFill>
                <a:latin typeface="Aptos Display" panose="020B0004020202020204" pitchFamily="34" charset="0"/>
              </a:rPr>
              <a:t>Project Brief</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92A8ADED-15D3-4796-C34D-184BDFC3C126}"/>
              </a:ext>
            </a:extLst>
          </p:cNvPr>
          <p:cNvSpPr>
            <a:spLocks noGrp="1"/>
          </p:cNvSpPr>
          <p:nvPr>
            <p:ph idx="1"/>
          </p:nvPr>
        </p:nvSpPr>
        <p:spPr>
          <a:xfrm>
            <a:off x="4768330" y="605896"/>
            <a:ext cx="6413663" cy="5856717"/>
          </a:xfrm>
        </p:spPr>
        <p:txBody>
          <a:bodyPr anchor="ctr">
            <a:normAutofit/>
          </a:bodyPr>
          <a:lstStyle/>
          <a:p>
            <a:pPr algn="just">
              <a:buFont typeface="Wingdings" panose="05000000000000000000" pitchFamily="2" charset="2"/>
              <a:buChar char="Ø"/>
            </a:pPr>
            <a:endParaRPr lang="en-GB" dirty="0">
              <a:latin typeface="Aptos Display" panose="020B0004020202020204" pitchFamily="34" charset="0"/>
            </a:endParaRPr>
          </a:p>
          <a:p>
            <a:pPr algn="just">
              <a:buFont typeface="Wingdings" panose="05000000000000000000" pitchFamily="2" charset="2"/>
              <a:buChar char="Ø"/>
            </a:pPr>
            <a:r>
              <a:rPr lang="en-GB" dirty="0">
                <a:latin typeface="Aptos Display" panose="020B0004020202020204" pitchFamily="34" charset="0"/>
              </a:rPr>
              <a:t>This project is set to analyse 156 countries’ happiness data from 2019</a:t>
            </a:r>
          </a:p>
          <a:p>
            <a:pPr marL="0" indent="0" algn="just">
              <a:buNone/>
            </a:pPr>
            <a:endParaRPr lang="en-GB" dirty="0">
              <a:latin typeface="Aptos Display" panose="020B0004020202020204" pitchFamily="34" charset="0"/>
            </a:endParaRPr>
          </a:p>
          <a:p>
            <a:pPr algn="just">
              <a:buFont typeface="Wingdings" panose="05000000000000000000" pitchFamily="2" charset="2"/>
              <a:buChar char="Ø"/>
            </a:pPr>
            <a:r>
              <a:rPr lang="en-GB" dirty="0">
                <a:latin typeface="Aptos Display" panose="020B0004020202020204" pitchFamily="34" charset="0"/>
              </a:rPr>
              <a:t>The objective is to determine the relationship between key metrics that may influence the final happiness score for each country. We will analyse information such as GDP per capita, social help, perception of corruption or generosity, among others</a:t>
            </a:r>
          </a:p>
          <a:p>
            <a:pPr marL="0" indent="0" algn="just">
              <a:buNone/>
            </a:pPr>
            <a:endParaRPr lang="en-GB" dirty="0">
              <a:latin typeface="Aptos Display" panose="020B0004020202020204" pitchFamily="34" charset="0"/>
            </a:endParaRPr>
          </a:p>
          <a:p>
            <a:pPr algn="just">
              <a:buFont typeface="Wingdings" panose="05000000000000000000" pitchFamily="2" charset="2"/>
              <a:buChar char="Ø"/>
            </a:pPr>
            <a:r>
              <a:rPr lang="en-GB" dirty="0">
                <a:latin typeface="Aptos Display" panose="020B0004020202020204" pitchFamily="34" charset="0"/>
              </a:rPr>
              <a:t>We will answer questions such as:</a:t>
            </a:r>
          </a:p>
          <a:p>
            <a:pPr lvl="2" algn="just">
              <a:buFont typeface="Wingdings" panose="05000000000000000000" pitchFamily="2" charset="2"/>
              <a:buChar char="Ø"/>
            </a:pPr>
            <a:r>
              <a:rPr lang="en-GB" sz="1600" dirty="0">
                <a:latin typeface="Aptos Display" panose="020B0004020202020204" pitchFamily="34" charset="0"/>
              </a:rPr>
              <a:t>Are the happiest countries the ones with the biggest GDP per capita?</a:t>
            </a:r>
          </a:p>
          <a:p>
            <a:pPr lvl="2" algn="just">
              <a:buFont typeface="Wingdings" panose="05000000000000000000" pitchFamily="2" charset="2"/>
              <a:buChar char="Ø"/>
            </a:pPr>
            <a:r>
              <a:rPr lang="en-GB" sz="1600" dirty="0">
                <a:latin typeface="Aptos Display" panose="020B0004020202020204" pitchFamily="34" charset="0"/>
              </a:rPr>
              <a:t> Does perception of corruption have an impact on the happiness of the country?</a:t>
            </a:r>
          </a:p>
          <a:p>
            <a:pPr lvl="2" algn="just">
              <a:buFont typeface="Wingdings" panose="05000000000000000000" pitchFamily="2" charset="2"/>
              <a:buChar char="Ø"/>
            </a:pPr>
            <a:r>
              <a:rPr lang="en-GB" sz="1600" dirty="0">
                <a:latin typeface="Aptos Display" panose="020B0004020202020204" pitchFamily="34" charset="0"/>
              </a:rPr>
              <a:t>Is GDP per capita the only factor that affects the happiness score?</a:t>
            </a:r>
          </a:p>
          <a:p>
            <a:pPr lvl="2" algn="just">
              <a:buFont typeface="Wingdings" panose="05000000000000000000" pitchFamily="2" charset="2"/>
              <a:buChar char="Ø"/>
            </a:pPr>
            <a:r>
              <a:rPr lang="en-GB" sz="1600" dirty="0">
                <a:latin typeface="Aptos Display" panose="020B0004020202020204" pitchFamily="34" charset="0"/>
              </a:rPr>
              <a:t>How much does social support affect the happiness score?</a:t>
            </a:r>
          </a:p>
          <a:p>
            <a:pPr lvl="2" algn="just">
              <a:buFont typeface="Wingdings" panose="05000000000000000000" pitchFamily="2" charset="2"/>
              <a:buChar char="Ø"/>
            </a:pPr>
            <a:r>
              <a:rPr lang="en-GB" sz="1600" dirty="0">
                <a:latin typeface="Aptos Display" panose="020B0004020202020204" pitchFamily="34" charset="0"/>
              </a:rPr>
              <a:t>How many countries are in the top list as happiest?</a:t>
            </a:r>
          </a:p>
          <a:p>
            <a:pPr lvl="2">
              <a:buFont typeface="Wingdings" panose="05000000000000000000" pitchFamily="2" charset="2"/>
              <a:buChar char="Ø"/>
            </a:pPr>
            <a:endParaRPr lang="en-GB" dirty="0">
              <a:latin typeface="Aptos Display" panose="020B0004020202020204" pitchFamily="34" charset="0"/>
            </a:endParaRPr>
          </a:p>
          <a:p>
            <a:pPr lvl="2">
              <a:buFont typeface="Wingdings" panose="05000000000000000000" pitchFamily="2" charset="2"/>
              <a:buChar char="Ø"/>
            </a:pPr>
            <a:endParaRPr lang="en-GB" dirty="0">
              <a:latin typeface="Aptos Display" panose="020B0004020202020204" pitchFamily="34" charset="0"/>
            </a:endParaRPr>
          </a:p>
          <a:p>
            <a:pPr lvl="1">
              <a:buFont typeface="Wingdings" panose="05000000000000000000" pitchFamily="2" charset="2"/>
              <a:buChar char="Ø"/>
            </a:pPr>
            <a:endParaRPr lang="en-GB" dirty="0">
              <a:latin typeface="Aptos Display" panose="020B0004020202020204" pitchFamily="34" charset="0"/>
            </a:endParaRPr>
          </a:p>
          <a:p>
            <a:pPr lvl="1"/>
            <a:endParaRPr lang="en-GB" dirty="0">
              <a:latin typeface="Aptos Display" panose="020B0004020202020204" pitchFamily="34" charset="0"/>
            </a:endParaRPr>
          </a:p>
        </p:txBody>
      </p:sp>
    </p:spTree>
    <p:extLst>
      <p:ext uri="{BB962C8B-B14F-4D97-AF65-F5344CB8AC3E}">
        <p14:creationId xmlns:p14="http://schemas.microsoft.com/office/powerpoint/2010/main" val="4109532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7AC0025B-DA2E-E8AF-6093-6B295478EEDB}"/>
              </a:ext>
            </a:extLst>
          </p:cNvPr>
          <p:cNvSpPr>
            <a:spLocks noGrp="1"/>
          </p:cNvSpPr>
          <p:nvPr>
            <p:ph type="title"/>
          </p:nvPr>
        </p:nvSpPr>
        <p:spPr>
          <a:xfrm>
            <a:off x="492370" y="605896"/>
            <a:ext cx="3084844" cy="5646208"/>
          </a:xfrm>
        </p:spPr>
        <p:txBody>
          <a:bodyPr anchor="ctr">
            <a:normAutofit/>
          </a:bodyPr>
          <a:lstStyle/>
          <a:p>
            <a:pPr algn="ctr"/>
            <a:r>
              <a:rPr lang="en-GB" sz="3600" dirty="0">
                <a:solidFill>
                  <a:srgbClr val="FFFFFF"/>
                </a:solidFill>
                <a:latin typeface="Aptos Display" panose="020B0004020202020204" pitchFamily="34" charset="0"/>
              </a:rPr>
              <a:t>Dataset Overview</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1F7BB70D-8DEB-20DD-BCD4-7629C07C4FF0}"/>
              </a:ext>
            </a:extLst>
          </p:cNvPr>
          <p:cNvSpPr>
            <a:spLocks noGrp="1"/>
          </p:cNvSpPr>
          <p:nvPr>
            <p:ph idx="1"/>
          </p:nvPr>
        </p:nvSpPr>
        <p:spPr>
          <a:xfrm>
            <a:off x="4742016" y="138223"/>
            <a:ext cx="7294040" cy="6113881"/>
          </a:xfrm>
        </p:spPr>
        <p:txBody>
          <a:bodyPr anchor="ctr">
            <a:normAutofit/>
          </a:bodyPr>
          <a:lstStyle/>
          <a:p>
            <a:pPr>
              <a:buFont typeface="Wingdings" panose="05000000000000000000" pitchFamily="2" charset="2"/>
              <a:buChar char="Ø"/>
            </a:pPr>
            <a:r>
              <a:rPr lang="en-GB" dirty="0">
                <a:latin typeface="Aptos Display" panose="020B0004020202020204" pitchFamily="34" charset="0"/>
              </a:rPr>
              <a:t>Total rows: 156</a:t>
            </a:r>
          </a:p>
          <a:p>
            <a:pPr>
              <a:buFont typeface="Wingdings" panose="05000000000000000000" pitchFamily="2" charset="2"/>
              <a:buChar char="Ø"/>
            </a:pPr>
            <a:r>
              <a:rPr lang="en-GB" dirty="0">
                <a:latin typeface="Aptos Display" panose="020B0004020202020204" pitchFamily="34" charset="0"/>
              </a:rPr>
              <a:t>Columns: 9</a:t>
            </a:r>
          </a:p>
          <a:p>
            <a:pPr>
              <a:buFont typeface="Wingdings" panose="05000000000000000000" pitchFamily="2" charset="2"/>
              <a:buChar char="Ø"/>
            </a:pPr>
            <a:r>
              <a:rPr lang="en-GB" dirty="0">
                <a:latin typeface="Aptos Display" panose="020B0004020202020204" pitchFamily="34" charset="0"/>
              </a:rPr>
              <a:t>Number of countries: 156</a:t>
            </a:r>
          </a:p>
          <a:p>
            <a:pPr>
              <a:buFont typeface="Wingdings" panose="05000000000000000000" pitchFamily="2" charset="2"/>
              <a:buChar char="Ø"/>
            </a:pPr>
            <a:r>
              <a:rPr lang="en-GB" dirty="0">
                <a:latin typeface="Aptos Display" panose="020B0004020202020204" pitchFamily="34" charset="0"/>
              </a:rPr>
              <a:t>Data recorded:	</a:t>
            </a:r>
          </a:p>
          <a:p>
            <a:pPr lvl="1">
              <a:buFont typeface="Wingdings" panose="05000000000000000000" pitchFamily="2" charset="2"/>
              <a:buChar char="Ø"/>
            </a:pPr>
            <a:r>
              <a:rPr lang="en-GB" dirty="0">
                <a:latin typeface="Aptos Display" panose="020B0004020202020204" pitchFamily="34" charset="0"/>
              </a:rPr>
              <a:t>Name of the country</a:t>
            </a:r>
          </a:p>
          <a:p>
            <a:pPr lvl="1">
              <a:buFont typeface="Wingdings" panose="05000000000000000000" pitchFamily="2" charset="2"/>
              <a:buChar char="Ø"/>
            </a:pPr>
            <a:r>
              <a:rPr lang="en-GB" dirty="0">
                <a:latin typeface="Aptos Display" panose="020B0004020202020204" pitchFamily="34" charset="0"/>
              </a:rPr>
              <a:t>Score (This represents happiness score)</a:t>
            </a:r>
          </a:p>
          <a:p>
            <a:pPr lvl="1">
              <a:buFont typeface="Wingdings" panose="05000000000000000000" pitchFamily="2" charset="2"/>
              <a:buChar char="Ø"/>
            </a:pPr>
            <a:r>
              <a:rPr lang="en-GB" dirty="0">
                <a:latin typeface="Aptos Display" panose="020B0004020202020204" pitchFamily="34" charset="0"/>
              </a:rPr>
              <a:t>GDP per capita</a:t>
            </a:r>
          </a:p>
          <a:p>
            <a:pPr lvl="1">
              <a:buFont typeface="Wingdings" panose="05000000000000000000" pitchFamily="2" charset="2"/>
              <a:buChar char="Ø"/>
            </a:pPr>
            <a:r>
              <a:rPr lang="en-GB" dirty="0">
                <a:latin typeface="Aptos Display" panose="020B0004020202020204" pitchFamily="34" charset="0"/>
              </a:rPr>
              <a:t>Social support</a:t>
            </a:r>
          </a:p>
          <a:p>
            <a:pPr lvl="1">
              <a:buFont typeface="Wingdings" panose="05000000000000000000" pitchFamily="2" charset="2"/>
              <a:buChar char="Ø"/>
            </a:pPr>
            <a:r>
              <a:rPr lang="en-GB" dirty="0">
                <a:latin typeface="Aptos Display" panose="020B0004020202020204" pitchFamily="34" charset="0"/>
              </a:rPr>
              <a:t>Healthy Life Expectancy</a:t>
            </a:r>
          </a:p>
          <a:p>
            <a:pPr lvl="1">
              <a:buFont typeface="Wingdings" panose="05000000000000000000" pitchFamily="2" charset="2"/>
              <a:buChar char="Ø"/>
            </a:pPr>
            <a:r>
              <a:rPr lang="en-GB" dirty="0">
                <a:latin typeface="Aptos Display" panose="020B0004020202020204" pitchFamily="34" charset="0"/>
              </a:rPr>
              <a:t>Freedom to make life choices</a:t>
            </a:r>
          </a:p>
          <a:p>
            <a:pPr lvl="1">
              <a:buFont typeface="Wingdings" panose="05000000000000000000" pitchFamily="2" charset="2"/>
              <a:buChar char="Ø"/>
            </a:pPr>
            <a:r>
              <a:rPr lang="en-GB" dirty="0">
                <a:latin typeface="Aptos Display" panose="020B0004020202020204" pitchFamily="34" charset="0"/>
              </a:rPr>
              <a:t>Generosity</a:t>
            </a:r>
          </a:p>
          <a:p>
            <a:pPr lvl="1">
              <a:buFont typeface="Wingdings" panose="05000000000000000000" pitchFamily="2" charset="2"/>
              <a:buChar char="Ø"/>
            </a:pPr>
            <a:r>
              <a:rPr lang="en-GB" dirty="0">
                <a:latin typeface="Aptos Display" panose="020B0004020202020204" pitchFamily="34" charset="0"/>
              </a:rPr>
              <a:t>Perception of corruption (the biggest number equals less perception)</a:t>
            </a:r>
          </a:p>
          <a:p>
            <a:pPr lvl="1">
              <a:buFont typeface="Wingdings" panose="05000000000000000000" pitchFamily="2" charset="2"/>
              <a:buChar char="Ø"/>
            </a:pPr>
            <a:endParaRPr lang="en-GB" dirty="0">
              <a:latin typeface="Aptos Display" panose="020B0004020202020204" pitchFamily="34" charset="0"/>
            </a:endParaRPr>
          </a:p>
          <a:p>
            <a:pPr marL="91440" lvl="1" indent="-91440">
              <a:spcBef>
                <a:spcPts val="1200"/>
              </a:spcBef>
              <a:spcAft>
                <a:spcPts val="200"/>
              </a:spcAft>
              <a:buSzPct val="100000"/>
              <a:buFont typeface="Wingdings" panose="05000000000000000000" pitchFamily="2" charset="2"/>
              <a:buChar char="Ø"/>
            </a:pPr>
            <a:r>
              <a:rPr lang="en-GB" sz="2000" dirty="0">
                <a:latin typeface="Aptos Display" panose="020B0004020202020204" pitchFamily="34" charset="0"/>
              </a:rPr>
              <a:t>The data has been a key part in solving the main business questions and goals of the project</a:t>
            </a:r>
          </a:p>
          <a:p>
            <a:pPr marL="201168" lvl="1" indent="0">
              <a:buNone/>
            </a:pPr>
            <a:endParaRPr lang="en-GB" dirty="0">
              <a:latin typeface="Aptos Display" panose="020B0004020202020204" pitchFamily="34" charset="0"/>
            </a:endParaRPr>
          </a:p>
        </p:txBody>
      </p:sp>
    </p:spTree>
    <p:extLst>
      <p:ext uri="{BB962C8B-B14F-4D97-AF65-F5344CB8AC3E}">
        <p14:creationId xmlns:p14="http://schemas.microsoft.com/office/powerpoint/2010/main" val="1399940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3" name="Table 32">
            <a:extLst>
              <a:ext uri="{FF2B5EF4-FFF2-40B4-BE49-F238E27FC236}">
                <a16:creationId xmlns:a16="http://schemas.microsoft.com/office/drawing/2014/main" id="{CAD1EF67-02B7-BAB9-4959-C8B569419ED8}"/>
              </a:ext>
            </a:extLst>
          </p:cNvPr>
          <p:cNvGraphicFramePr>
            <a:graphicFrameLocks noGrp="1"/>
          </p:cNvGraphicFramePr>
          <p:nvPr>
            <p:extLst>
              <p:ext uri="{D42A27DB-BD31-4B8C-83A1-F6EECF244321}">
                <p14:modId xmlns:p14="http://schemas.microsoft.com/office/powerpoint/2010/main" val="3014303036"/>
              </p:ext>
            </p:extLst>
          </p:nvPr>
        </p:nvGraphicFramePr>
        <p:xfrm>
          <a:off x="3174813" y="4934"/>
          <a:ext cx="4070252" cy="6400800"/>
        </p:xfrm>
        <a:graphic>
          <a:graphicData uri="http://schemas.openxmlformats.org/drawingml/2006/table">
            <a:tbl>
              <a:tblPr firstRow="1" bandRow="1">
                <a:tableStyleId>{5C22544A-7EE6-4342-B048-85BDC9FD1C3A}</a:tableStyleId>
              </a:tblPr>
              <a:tblGrid>
                <a:gridCol w="2208414">
                  <a:extLst>
                    <a:ext uri="{9D8B030D-6E8A-4147-A177-3AD203B41FA5}">
                      <a16:colId xmlns:a16="http://schemas.microsoft.com/office/drawing/2014/main" val="20000"/>
                    </a:ext>
                  </a:extLst>
                </a:gridCol>
                <a:gridCol w="1861838">
                  <a:extLst>
                    <a:ext uri="{9D8B030D-6E8A-4147-A177-3AD203B41FA5}">
                      <a16:colId xmlns:a16="http://schemas.microsoft.com/office/drawing/2014/main" val="20001"/>
                    </a:ext>
                  </a:extLst>
                </a:gridCol>
              </a:tblGrid>
              <a:tr h="224312">
                <a:tc>
                  <a:txBody>
                    <a:bodyPr/>
                    <a:lstStyle/>
                    <a:p>
                      <a:pPr>
                        <a:defRPr sz="1000"/>
                      </a:pPr>
                      <a:r>
                        <a:rPr sz="900" b="1" dirty="0">
                          <a:solidFill>
                            <a:schemeClr val="tx1"/>
                          </a:solidFill>
                        </a:rPr>
                        <a:t>Country's Name</a:t>
                      </a:r>
                      <a:endParaRPr sz="900" b="1" dirty="0">
                        <a:solidFill>
                          <a:schemeClr val="tx1"/>
                        </a:solidFill>
                        <a:latin typeface="Aptos Display" panose="020B0004020202020204" pitchFamily="34" charset="0"/>
                      </a:endParaRPr>
                    </a:p>
                  </a:txBody>
                  <a:tcPr/>
                </a:tc>
                <a:tc>
                  <a:txBody>
                    <a:bodyPr/>
                    <a:lstStyle/>
                    <a:p>
                      <a:pPr>
                        <a:defRPr sz="1000"/>
                      </a:pPr>
                      <a:r>
                        <a:rPr sz="900" b="1">
                          <a:solidFill>
                            <a:schemeClr val="tx1"/>
                          </a:solidFill>
                        </a:rPr>
                        <a:t>Happiness Score</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0"/>
                  </a:ext>
                </a:extLst>
              </a:tr>
              <a:tr h="224312">
                <a:tc>
                  <a:txBody>
                    <a:bodyPr/>
                    <a:lstStyle/>
                    <a:p>
                      <a:pPr>
                        <a:defRPr sz="800"/>
                      </a:pPr>
                      <a:r>
                        <a:rPr sz="900" b="1">
                          <a:solidFill>
                            <a:schemeClr val="tx1"/>
                          </a:solidFill>
                        </a:rPr>
                        <a:t>Finland</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7.77</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1"/>
                  </a:ext>
                </a:extLst>
              </a:tr>
              <a:tr h="224312">
                <a:tc>
                  <a:txBody>
                    <a:bodyPr/>
                    <a:lstStyle/>
                    <a:p>
                      <a:pPr>
                        <a:defRPr sz="800"/>
                      </a:pPr>
                      <a:r>
                        <a:rPr sz="900" b="1">
                          <a:solidFill>
                            <a:schemeClr val="tx1"/>
                          </a:solidFill>
                        </a:rPr>
                        <a:t>Denmark</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7.6</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2"/>
                  </a:ext>
                </a:extLst>
              </a:tr>
              <a:tr h="224312">
                <a:tc>
                  <a:txBody>
                    <a:bodyPr/>
                    <a:lstStyle/>
                    <a:p>
                      <a:pPr>
                        <a:defRPr sz="800"/>
                      </a:pPr>
                      <a:r>
                        <a:rPr sz="900" b="1">
                          <a:solidFill>
                            <a:schemeClr val="tx1"/>
                          </a:solidFill>
                        </a:rPr>
                        <a:t>Norway</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7.55</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3"/>
                  </a:ext>
                </a:extLst>
              </a:tr>
              <a:tr h="224312">
                <a:tc>
                  <a:txBody>
                    <a:bodyPr/>
                    <a:lstStyle/>
                    <a:p>
                      <a:pPr>
                        <a:defRPr sz="800"/>
                      </a:pPr>
                      <a:r>
                        <a:rPr sz="900" b="1">
                          <a:solidFill>
                            <a:schemeClr val="tx1"/>
                          </a:solidFill>
                        </a:rPr>
                        <a:t>Iceland</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7.49</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4"/>
                  </a:ext>
                </a:extLst>
              </a:tr>
              <a:tr h="224312">
                <a:tc>
                  <a:txBody>
                    <a:bodyPr/>
                    <a:lstStyle/>
                    <a:p>
                      <a:pPr>
                        <a:defRPr sz="800"/>
                      </a:pPr>
                      <a:r>
                        <a:rPr sz="900" b="1">
                          <a:solidFill>
                            <a:schemeClr val="tx1"/>
                          </a:solidFill>
                        </a:rPr>
                        <a:t>Netherlands</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7.49</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5"/>
                  </a:ext>
                </a:extLst>
              </a:tr>
              <a:tr h="224312">
                <a:tc>
                  <a:txBody>
                    <a:bodyPr/>
                    <a:lstStyle/>
                    <a:p>
                      <a:pPr>
                        <a:defRPr sz="800"/>
                      </a:pPr>
                      <a:r>
                        <a:rPr sz="900" b="1">
                          <a:solidFill>
                            <a:schemeClr val="tx1"/>
                          </a:solidFill>
                        </a:rPr>
                        <a:t>Switzerland</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7.48</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6"/>
                  </a:ext>
                </a:extLst>
              </a:tr>
              <a:tr h="224312">
                <a:tc>
                  <a:txBody>
                    <a:bodyPr/>
                    <a:lstStyle/>
                    <a:p>
                      <a:pPr>
                        <a:defRPr sz="800"/>
                      </a:pPr>
                      <a:r>
                        <a:rPr sz="900" b="1">
                          <a:solidFill>
                            <a:schemeClr val="tx1"/>
                          </a:solidFill>
                        </a:rPr>
                        <a:t>Sweden</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7.34</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7"/>
                  </a:ext>
                </a:extLst>
              </a:tr>
              <a:tr h="224312">
                <a:tc>
                  <a:txBody>
                    <a:bodyPr/>
                    <a:lstStyle/>
                    <a:p>
                      <a:pPr>
                        <a:defRPr sz="800"/>
                      </a:pPr>
                      <a:r>
                        <a:rPr sz="900" b="1">
                          <a:solidFill>
                            <a:schemeClr val="tx1"/>
                          </a:solidFill>
                        </a:rPr>
                        <a:t>New Zealand</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7.31</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8"/>
                  </a:ext>
                </a:extLst>
              </a:tr>
              <a:tr h="224312">
                <a:tc>
                  <a:txBody>
                    <a:bodyPr/>
                    <a:lstStyle/>
                    <a:p>
                      <a:pPr>
                        <a:defRPr sz="800"/>
                      </a:pPr>
                      <a:r>
                        <a:rPr sz="900" b="1">
                          <a:solidFill>
                            <a:schemeClr val="tx1"/>
                          </a:solidFill>
                        </a:rPr>
                        <a:t>Canada</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7.28</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9"/>
                  </a:ext>
                </a:extLst>
              </a:tr>
              <a:tr h="224312">
                <a:tc>
                  <a:txBody>
                    <a:bodyPr/>
                    <a:lstStyle/>
                    <a:p>
                      <a:pPr>
                        <a:defRPr sz="800"/>
                      </a:pPr>
                      <a:r>
                        <a:rPr sz="900" b="1">
                          <a:solidFill>
                            <a:schemeClr val="tx1"/>
                          </a:solidFill>
                        </a:rPr>
                        <a:t>Austria</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7.25</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0"/>
                  </a:ext>
                </a:extLst>
              </a:tr>
              <a:tr h="224312">
                <a:tc>
                  <a:txBody>
                    <a:bodyPr/>
                    <a:lstStyle/>
                    <a:p>
                      <a:pPr>
                        <a:defRPr sz="800"/>
                      </a:pPr>
                      <a:r>
                        <a:rPr sz="900" b="1">
                          <a:solidFill>
                            <a:schemeClr val="tx1"/>
                          </a:solidFill>
                        </a:rPr>
                        <a:t>Australia</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7.23</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1"/>
                  </a:ext>
                </a:extLst>
              </a:tr>
              <a:tr h="224312">
                <a:tc>
                  <a:txBody>
                    <a:bodyPr/>
                    <a:lstStyle/>
                    <a:p>
                      <a:pPr>
                        <a:defRPr sz="800"/>
                      </a:pPr>
                      <a:r>
                        <a:rPr sz="900" b="1">
                          <a:solidFill>
                            <a:schemeClr val="tx1"/>
                          </a:solidFill>
                        </a:rPr>
                        <a:t>Costa Rica</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7.17</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2"/>
                  </a:ext>
                </a:extLst>
              </a:tr>
              <a:tr h="224312">
                <a:tc>
                  <a:txBody>
                    <a:bodyPr/>
                    <a:lstStyle/>
                    <a:p>
                      <a:pPr>
                        <a:defRPr sz="800"/>
                      </a:pPr>
                      <a:r>
                        <a:rPr sz="900" b="1">
                          <a:solidFill>
                            <a:schemeClr val="tx1"/>
                          </a:solidFill>
                        </a:rPr>
                        <a:t>Israel</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7.14</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3"/>
                  </a:ext>
                </a:extLst>
              </a:tr>
              <a:tr h="224312">
                <a:tc>
                  <a:txBody>
                    <a:bodyPr/>
                    <a:lstStyle/>
                    <a:p>
                      <a:pPr>
                        <a:defRPr sz="800"/>
                      </a:pPr>
                      <a:r>
                        <a:rPr sz="900" b="1">
                          <a:solidFill>
                            <a:schemeClr val="tx1"/>
                          </a:solidFill>
                        </a:rPr>
                        <a:t>Luxembourg</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7.09</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4"/>
                  </a:ext>
                </a:extLst>
              </a:tr>
              <a:tr h="224312">
                <a:tc>
                  <a:txBody>
                    <a:bodyPr/>
                    <a:lstStyle/>
                    <a:p>
                      <a:pPr>
                        <a:defRPr sz="800"/>
                      </a:pPr>
                      <a:r>
                        <a:rPr sz="900" b="1" dirty="0">
                          <a:solidFill>
                            <a:schemeClr val="tx1"/>
                          </a:solidFill>
                        </a:rPr>
                        <a:t>United Kingdom</a:t>
                      </a:r>
                      <a:endParaRPr sz="900" b="1" dirty="0">
                        <a:solidFill>
                          <a:schemeClr val="tx1"/>
                        </a:solidFill>
                        <a:latin typeface="Aptos Display" panose="020B0004020202020204" pitchFamily="34" charset="0"/>
                      </a:endParaRPr>
                    </a:p>
                  </a:txBody>
                  <a:tcPr/>
                </a:tc>
                <a:tc>
                  <a:txBody>
                    <a:bodyPr/>
                    <a:lstStyle/>
                    <a:p>
                      <a:pPr>
                        <a:defRPr sz="800"/>
                      </a:pPr>
                      <a:r>
                        <a:rPr sz="900" b="1">
                          <a:solidFill>
                            <a:schemeClr val="tx1"/>
                          </a:solidFill>
                        </a:rPr>
                        <a:t>7.05</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5"/>
                  </a:ext>
                </a:extLst>
              </a:tr>
              <a:tr h="224312">
                <a:tc>
                  <a:txBody>
                    <a:bodyPr/>
                    <a:lstStyle/>
                    <a:p>
                      <a:pPr>
                        <a:defRPr sz="800"/>
                      </a:pPr>
                      <a:r>
                        <a:rPr sz="900" b="1">
                          <a:solidFill>
                            <a:schemeClr val="tx1"/>
                          </a:solidFill>
                        </a:rPr>
                        <a:t>Ireland</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7.02</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6"/>
                  </a:ext>
                </a:extLst>
              </a:tr>
              <a:tr h="224312">
                <a:tc>
                  <a:txBody>
                    <a:bodyPr/>
                    <a:lstStyle/>
                    <a:p>
                      <a:pPr>
                        <a:defRPr sz="800"/>
                      </a:pPr>
                      <a:r>
                        <a:rPr sz="900" b="1">
                          <a:solidFill>
                            <a:schemeClr val="tx1"/>
                          </a:solidFill>
                        </a:rPr>
                        <a:t>Germany</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6.99</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7"/>
                  </a:ext>
                </a:extLst>
              </a:tr>
              <a:tr h="224312">
                <a:tc>
                  <a:txBody>
                    <a:bodyPr/>
                    <a:lstStyle/>
                    <a:p>
                      <a:pPr>
                        <a:defRPr sz="800"/>
                      </a:pPr>
                      <a:r>
                        <a:rPr sz="900" b="1">
                          <a:solidFill>
                            <a:schemeClr val="tx1"/>
                          </a:solidFill>
                        </a:rPr>
                        <a:t>Belgium</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6.92</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8"/>
                  </a:ext>
                </a:extLst>
              </a:tr>
              <a:tr h="224312">
                <a:tc>
                  <a:txBody>
                    <a:bodyPr/>
                    <a:lstStyle/>
                    <a:p>
                      <a:pPr>
                        <a:defRPr sz="800"/>
                      </a:pPr>
                      <a:r>
                        <a:rPr sz="900" b="1">
                          <a:solidFill>
                            <a:schemeClr val="tx1"/>
                          </a:solidFill>
                        </a:rPr>
                        <a:t>United States</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6.89</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9"/>
                  </a:ext>
                </a:extLst>
              </a:tr>
              <a:tr h="224312">
                <a:tc>
                  <a:txBody>
                    <a:bodyPr/>
                    <a:lstStyle/>
                    <a:p>
                      <a:pPr>
                        <a:defRPr sz="800"/>
                      </a:pPr>
                      <a:r>
                        <a:rPr sz="900" b="1">
                          <a:solidFill>
                            <a:schemeClr val="tx1"/>
                          </a:solidFill>
                        </a:rPr>
                        <a:t>Czech Republic</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6.85</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20"/>
                  </a:ext>
                </a:extLst>
              </a:tr>
              <a:tr h="224312">
                <a:tc>
                  <a:txBody>
                    <a:bodyPr/>
                    <a:lstStyle/>
                    <a:p>
                      <a:pPr>
                        <a:defRPr sz="800"/>
                      </a:pPr>
                      <a:r>
                        <a:rPr sz="900" b="1">
                          <a:solidFill>
                            <a:schemeClr val="tx1"/>
                          </a:solidFill>
                        </a:rPr>
                        <a:t>United Arab Emirates</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6.83</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21"/>
                  </a:ext>
                </a:extLst>
              </a:tr>
              <a:tr h="224312">
                <a:tc>
                  <a:txBody>
                    <a:bodyPr/>
                    <a:lstStyle/>
                    <a:p>
                      <a:pPr>
                        <a:defRPr sz="800"/>
                      </a:pPr>
                      <a:r>
                        <a:rPr sz="900" b="1">
                          <a:solidFill>
                            <a:schemeClr val="tx1"/>
                          </a:solidFill>
                        </a:rPr>
                        <a:t>Malta</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6.73</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22"/>
                  </a:ext>
                </a:extLst>
              </a:tr>
              <a:tr h="224312">
                <a:tc>
                  <a:txBody>
                    <a:bodyPr/>
                    <a:lstStyle/>
                    <a:p>
                      <a:pPr>
                        <a:defRPr sz="800"/>
                      </a:pPr>
                      <a:r>
                        <a:rPr sz="900" b="1">
                          <a:solidFill>
                            <a:schemeClr val="tx1"/>
                          </a:solidFill>
                        </a:rPr>
                        <a:t>Mexico</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6.6</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23"/>
                  </a:ext>
                </a:extLst>
              </a:tr>
              <a:tr h="224312">
                <a:tc>
                  <a:txBody>
                    <a:bodyPr/>
                    <a:lstStyle/>
                    <a:p>
                      <a:pPr>
                        <a:defRPr sz="800"/>
                      </a:pPr>
                      <a:r>
                        <a:rPr sz="900" b="1">
                          <a:solidFill>
                            <a:schemeClr val="tx1"/>
                          </a:solidFill>
                        </a:rPr>
                        <a:t>France</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6.59</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24"/>
                  </a:ext>
                </a:extLst>
              </a:tr>
              <a:tr h="224312">
                <a:tc>
                  <a:txBody>
                    <a:bodyPr/>
                    <a:lstStyle/>
                    <a:p>
                      <a:pPr>
                        <a:defRPr sz="800"/>
                      </a:pPr>
                      <a:r>
                        <a:rPr sz="900" b="1">
                          <a:solidFill>
                            <a:schemeClr val="tx1"/>
                          </a:solidFill>
                        </a:rPr>
                        <a:t>Taiwan</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6.45</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25"/>
                  </a:ext>
                </a:extLst>
              </a:tr>
              <a:tr h="224312">
                <a:tc>
                  <a:txBody>
                    <a:bodyPr/>
                    <a:lstStyle/>
                    <a:p>
                      <a:pPr>
                        <a:defRPr sz="800"/>
                      </a:pPr>
                      <a:r>
                        <a:rPr sz="900" b="1">
                          <a:solidFill>
                            <a:schemeClr val="tx1"/>
                          </a:solidFill>
                        </a:rPr>
                        <a:t>Chile</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6.44</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26"/>
                  </a:ext>
                </a:extLst>
              </a:tr>
              <a:tr h="224312">
                <a:tc>
                  <a:txBody>
                    <a:bodyPr/>
                    <a:lstStyle/>
                    <a:p>
                      <a:pPr>
                        <a:defRPr sz="800"/>
                      </a:pPr>
                      <a:r>
                        <a:rPr sz="900" b="1" dirty="0">
                          <a:solidFill>
                            <a:schemeClr val="tx1"/>
                          </a:solidFill>
                        </a:rPr>
                        <a:t>Guatemala</a:t>
                      </a:r>
                      <a:endParaRPr sz="900" b="1" dirty="0">
                        <a:solidFill>
                          <a:schemeClr val="tx1"/>
                        </a:solidFill>
                        <a:latin typeface="Aptos Display" panose="020B0004020202020204" pitchFamily="34" charset="0"/>
                      </a:endParaRPr>
                    </a:p>
                  </a:txBody>
                  <a:tcPr/>
                </a:tc>
                <a:tc>
                  <a:txBody>
                    <a:bodyPr/>
                    <a:lstStyle/>
                    <a:p>
                      <a:pPr>
                        <a:defRPr sz="800"/>
                      </a:pPr>
                      <a:r>
                        <a:rPr sz="900" b="1" dirty="0">
                          <a:solidFill>
                            <a:schemeClr val="tx1"/>
                          </a:solidFill>
                        </a:rPr>
                        <a:t>6.44</a:t>
                      </a:r>
                      <a:endParaRPr sz="900" b="1" dirty="0">
                        <a:solidFill>
                          <a:schemeClr val="tx1"/>
                        </a:solidFill>
                        <a:latin typeface="Aptos Display" panose="020B0004020202020204" pitchFamily="34" charset="0"/>
                      </a:endParaRPr>
                    </a:p>
                  </a:txBody>
                  <a:tcPr/>
                </a:tc>
                <a:extLst>
                  <a:ext uri="{0D108BD9-81ED-4DB2-BD59-A6C34878D82A}">
                    <a16:rowId xmlns:a16="http://schemas.microsoft.com/office/drawing/2014/main" val="10027"/>
                  </a:ext>
                </a:extLst>
              </a:tr>
            </a:tbl>
          </a:graphicData>
        </a:graphic>
      </p:graphicFrame>
      <p:graphicFrame>
        <p:nvGraphicFramePr>
          <p:cNvPr id="37" name="Table 36">
            <a:extLst>
              <a:ext uri="{FF2B5EF4-FFF2-40B4-BE49-F238E27FC236}">
                <a16:creationId xmlns:a16="http://schemas.microsoft.com/office/drawing/2014/main" id="{C09F3179-6F28-0B45-DEF1-375EEA9ECDAF}"/>
              </a:ext>
            </a:extLst>
          </p:cNvPr>
          <p:cNvGraphicFramePr>
            <a:graphicFrameLocks noGrp="1"/>
          </p:cNvGraphicFramePr>
          <p:nvPr>
            <p:extLst>
              <p:ext uri="{D42A27DB-BD31-4B8C-83A1-F6EECF244321}">
                <p14:modId xmlns:p14="http://schemas.microsoft.com/office/powerpoint/2010/main" val="1147386287"/>
              </p:ext>
            </p:extLst>
          </p:nvPr>
        </p:nvGraphicFramePr>
        <p:xfrm>
          <a:off x="7558601" y="10925"/>
          <a:ext cx="4070252" cy="6400800"/>
        </p:xfrm>
        <a:graphic>
          <a:graphicData uri="http://schemas.openxmlformats.org/drawingml/2006/table">
            <a:tbl>
              <a:tblPr firstRow="1" bandRow="1">
                <a:tableStyleId>{5C22544A-7EE6-4342-B048-85BDC9FD1C3A}</a:tableStyleId>
              </a:tblPr>
              <a:tblGrid>
                <a:gridCol w="2208414">
                  <a:extLst>
                    <a:ext uri="{9D8B030D-6E8A-4147-A177-3AD203B41FA5}">
                      <a16:colId xmlns:a16="http://schemas.microsoft.com/office/drawing/2014/main" val="20000"/>
                    </a:ext>
                  </a:extLst>
                </a:gridCol>
                <a:gridCol w="1861838">
                  <a:extLst>
                    <a:ext uri="{9D8B030D-6E8A-4147-A177-3AD203B41FA5}">
                      <a16:colId xmlns:a16="http://schemas.microsoft.com/office/drawing/2014/main" val="20001"/>
                    </a:ext>
                  </a:extLst>
                </a:gridCol>
              </a:tblGrid>
              <a:tr h="222609">
                <a:tc>
                  <a:txBody>
                    <a:bodyPr/>
                    <a:lstStyle/>
                    <a:p>
                      <a:pPr>
                        <a:defRPr sz="1000"/>
                      </a:pPr>
                      <a:r>
                        <a:rPr sz="900" b="1">
                          <a:solidFill>
                            <a:schemeClr val="tx1"/>
                          </a:solidFill>
                        </a:rPr>
                        <a:t>Country's Name</a:t>
                      </a:r>
                      <a:endParaRPr sz="900" b="1">
                        <a:solidFill>
                          <a:schemeClr val="tx1"/>
                        </a:solidFill>
                        <a:latin typeface="Aptos Display" panose="020B0004020202020204" pitchFamily="34" charset="0"/>
                      </a:endParaRPr>
                    </a:p>
                  </a:txBody>
                  <a:tcPr/>
                </a:tc>
                <a:tc>
                  <a:txBody>
                    <a:bodyPr/>
                    <a:lstStyle/>
                    <a:p>
                      <a:pPr>
                        <a:defRPr sz="1000"/>
                      </a:pPr>
                      <a:r>
                        <a:rPr sz="900" b="1">
                          <a:solidFill>
                            <a:schemeClr val="tx1"/>
                          </a:solidFill>
                        </a:rPr>
                        <a:t>Happiness Score</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0"/>
                  </a:ext>
                </a:extLst>
              </a:tr>
              <a:tr h="217675">
                <a:tc>
                  <a:txBody>
                    <a:bodyPr/>
                    <a:lstStyle/>
                    <a:p>
                      <a:pPr>
                        <a:defRPr sz="800"/>
                      </a:pPr>
                      <a:r>
                        <a:rPr sz="900" b="1">
                          <a:solidFill>
                            <a:schemeClr val="tx1"/>
                          </a:solidFill>
                        </a:rPr>
                        <a:t>Finland</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7.77</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1"/>
                  </a:ext>
                </a:extLst>
              </a:tr>
              <a:tr h="217675">
                <a:tc>
                  <a:txBody>
                    <a:bodyPr/>
                    <a:lstStyle/>
                    <a:p>
                      <a:pPr>
                        <a:defRPr sz="800"/>
                      </a:pPr>
                      <a:r>
                        <a:rPr sz="900" b="1">
                          <a:solidFill>
                            <a:schemeClr val="tx1"/>
                          </a:solidFill>
                        </a:rPr>
                        <a:t>Denmark</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7.6</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2"/>
                  </a:ext>
                </a:extLst>
              </a:tr>
              <a:tr h="217675">
                <a:tc>
                  <a:txBody>
                    <a:bodyPr/>
                    <a:lstStyle/>
                    <a:p>
                      <a:pPr>
                        <a:defRPr sz="800"/>
                      </a:pPr>
                      <a:r>
                        <a:rPr sz="900" b="1">
                          <a:solidFill>
                            <a:schemeClr val="tx1"/>
                          </a:solidFill>
                        </a:rPr>
                        <a:t>Norway</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7.55</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3"/>
                  </a:ext>
                </a:extLst>
              </a:tr>
              <a:tr h="217675">
                <a:tc>
                  <a:txBody>
                    <a:bodyPr/>
                    <a:lstStyle/>
                    <a:p>
                      <a:pPr>
                        <a:defRPr sz="800"/>
                      </a:pPr>
                      <a:r>
                        <a:rPr sz="900" b="1">
                          <a:solidFill>
                            <a:schemeClr val="tx1"/>
                          </a:solidFill>
                        </a:rPr>
                        <a:t>Iceland</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7.49</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4"/>
                  </a:ext>
                </a:extLst>
              </a:tr>
              <a:tr h="217675">
                <a:tc>
                  <a:txBody>
                    <a:bodyPr/>
                    <a:lstStyle/>
                    <a:p>
                      <a:pPr>
                        <a:defRPr sz="800"/>
                      </a:pPr>
                      <a:r>
                        <a:rPr sz="900" b="1">
                          <a:solidFill>
                            <a:schemeClr val="tx1"/>
                          </a:solidFill>
                        </a:rPr>
                        <a:t>Netherlands</a:t>
                      </a:r>
                      <a:endParaRPr sz="900" b="1">
                        <a:solidFill>
                          <a:schemeClr val="tx1"/>
                        </a:solidFill>
                        <a:latin typeface="Aptos Display" panose="020B0004020202020204" pitchFamily="34" charset="0"/>
                      </a:endParaRPr>
                    </a:p>
                  </a:txBody>
                  <a:tcPr/>
                </a:tc>
                <a:tc>
                  <a:txBody>
                    <a:bodyPr/>
                    <a:lstStyle/>
                    <a:p>
                      <a:pPr>
                        <a:defRPr sz="800"/>
                      </a:pPr>
                      <a:r>
                        <a:rPr sz="900" b="1" dirty="0">
                          <a:solidFill>
                            <a:schemeClr val="tx1"/>
                          </a:solidFill>
                        </a:rPr>
                        <a:t>7.49</a:t>
                      </a:r>
                      <a:endParaRPr sz="900" b="1" dirty="0">
                        <a:solidFill>
                          <a:schemeClr val="tx1"/>
                        </a:solidFill>
                        <a:latin typeface="Aptos Display" panose="020B0004020202020204" pitchFamily="34" charset="0"/>
                      </a:endParaRPr>
                    </a:p>
                  </a:txBody>
                  <a:tcPr/>
                </a:tc>
                <a:extLst>
                  <a:ext uri="{0D108BD9-81ED-4DB2-BD59-A6C34878D82A}">
                    <a16:rowId xmlns:a16="http://schemas.microsoft.com/office/drawing/2014/main" val="10005"/>
                  </a:ext>
                </a:extLst>
              </a:tr>
              <a:tr h="217675">
                <a:tc>
                  <a:txBody>
                    <a:bodyPr/>
                    <a:lstStyle/>
                    <a:p>
                      <a:pPr>
                        <a:defRPr sz="800"/>
                      </a:pPr>
                      <a:r>
                        <a:rPr sz="900" b="1">
                          <a:solidFill>
                            <a:schemeClr val="tx1"/>
                          </a:solidFill>
                        </a:rPr>
                        <a:t>Switzerland</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7.48</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6"/>
                  </a:ext>
                </a:extLst>
              </a:tr>
              <a:tr h="217675">
                <a:tc>
                  <a:txBody>
                    <a:bodyPr/>
                    <a:lstStyle/>
                    <a:p>
                      <a:pPr>
                        <a:defRPr sz="800"/>
                      </a:pPr>
                      <a:r>
                        <a:rPr sz="900" b="1">
                          <a:solidFill>
                            <a:schemeClr val="tx1"/>
                          </a:solidFill>
                        </a:rPr>
                        <a:t>Sweden</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7.34</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7"/>
                  </a:ext>
                </a:extLst>
              </a:tr>
              <a:tr h="217675">
                <a:tc>
                  <a:txBody>
                    <a:bodyPr/>
                    <a:lstStyle/>
                    <a:p>
                      <a:pPr>
                        <a:defRPr sz="800"/>
                      </a:pPr>
                      <a:r>
                        <a:rPr sz="900" b="1">
                          <a:solidFill>
                            <a:schemeClr val="tx1"/>
                          </a:solidFill>
                        </a:rPr>
                        <a:t>New Zealand</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7.31</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8"/>
                  </a:ext>
                </a:extLst>
              </a:tr>
              <a:tr h="217675">
                <a:tc>
                  <a:txBody>
                    <a:bodyPr/>
                    <a:lstStyle/>
                    <a:p>
                      <a:pPr>
                        <a:defRPr sz="800"/>
                      </a:pPr>
                      <a:r>
                        <a:rPr sz="900" b="1">
                          <a:solidFill>
                            <a:schemeClr val="tx1"/>
                          </a:solidFill>
                        </a:rPr>
                        <a:t>Canada</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7.28</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09"/>
                  </a:ext>
                </a:extLst>
              </a:tr>
              <a:tr h="217675">
                <a:tc>
                  <a:txBody>
                    <a:bodyPr/>
                    <a:lstStyle/>
                    <a:p>
                      <a:pPr>
                        <a:defRPr sz="800"/>
                      </a:pPr>
                      <a:r>
                        <a:rPr sz="900" b="1">
                          <a:solidFill>
                            <a:schemeClr val="tx1"/>
                          </a:solidFill>
                        </a:rPr>
                        <a:t>Austria</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7.25</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0"/>
                  </a:ext>
                </a:extLst>
              </a:tr>
              <a:tr h="217675">
                <a:tc>
                  <a:txBody>
                    <a:bodyPr/>
                    <a:lstStyle/>
                    <a:p>
                      <a:pPr>
                        <a:defRPr sz="800"/>
                      </a:pPr>
                      <a:r>
                        <a:rPr sz="900" b="1">
                          <a:solidFill>
                            <a:schemeClr val="tx1"/>
                          </a:solidFill>
                        </a:rPr>
                        <a:t>Australia</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7.23</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1"/>
                  </a:ext>
                </a:extLst>
              </a:tr>
              <a:tr h="217675">
                <a:tc>
                  <a:txBody>
                    <a:bodyPr/>
                    <a:lstStyle/>
                    <a:p>
                      <a:pPr>
                        <a:defRPr sz="800"/>
                      </a:pPr>
                      <a:r>
                        <a:rPr sz="900" b="1">
                          <a:solidFill>
                            <a:schemeClr val="tx1"/>
                          </a:solidFill>
                        </a:rPr>
                        <a:t>Costa Rica</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7.17</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2"/>
                  </a:ext>
                </a:extLst>
              </a:tr>
              <a:tr h="217675">
                <a:tc>
                  <a:txBody>
                    <a:bodyPr/>
                    <a:lstStyle/>
                    <a:p>
                      <a:pPr>
                        <a:defRPr sz="800"/>
                      </a:pPr>
                      <a:r>
                        <a:rPr sz="900" b="1">
                          <a:solidFill>
                            <a:schemeClr val="tx1"/>
                          </a:solidFill>
                        </a:rPr>
                        <a:t>Israel</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7.14</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3"/>
                  </a:ext>
                </a:extLst>
              </a:tr>
              <a:tr h="217675">
                <a:tc>
                  <a:txBody>
                    <a:bodyPr/>
                    <a:lstStyle/>
                    <a:p>
                      <a:pPr>
                        <a:defRPr sz="800"/>
                      </a:pPr>
                      <a:r>
                        <a:rPr sz="900" b="1">
                          <a:solidFill>
                            <a:schemeClr val="tx1"/>
                          </a:solidFill>
                        </a:rPr>
                        <a:t>Luxembourg</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7.09</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4"/>
                  </a:ext>
                </a:extLst>
              </a:tr>
              <a:tr h="217675">
                <a:tc>
                  <a:txBody>
                    <a:bodyPr/>
                    <a:lstStyle/>
                    <a:p>
                      <a:pPr>
                        <a:defRPr sz="800"/>
                      </a:pPr>
                      <a:r>
                        <a:rPr sz="900" b="1" dirty="0">
                          <a:solidFill>
                            <a:schemeClr val="tx1"/>
                          </a:solidFill>
                        </a:rPr>
                        <a:t>United Kingdom</a:t>
                      </a:r>
                      <a:endParaRPr sz="900" b="1" dirty="0">
                        <a:solidFill>
                          <a:schemeClr val="tx1"/>
                        </a:solidFill>
                        <a:latin typeface="Aptos Display" panose="020B0004020202020204" pitchFamily="34" charset="0"/>
                      </a:endParaRPr>
                    </a:p>
                  </a:txBody>
                  <a:tcPr/>
                </a:tc>
                <a:tc>
                  <a:txBody>
                    <a:bodyPr/>
                    <a:lstStyle/>
                    <a:p>
                      <a:pPr>
                        <a:defRPr sz="800"/>
                      </a:pPr>
                      <a:r>
                        <a:rPr sz="900" b="1">
                          <a:solidFill>
                            <a:schemeClr val="tx1"/>
                          </a:solidFill>
                        </a:rPr>
                        <a:t>7.05</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5"/>
                  </a:ext>
                </a:extLst>
              </a:tr>
              <a:tr h="217675">
                <a:tc>
                  <a:txBody>
                    <a:bodyPr/>
                    <a:lstStyle/>
                    <a:p>
                      <a:pPr>
                        <a:defRPr sz="800"/>
                      </a:pPr>
                      <a:r>
                        <a:rPr sz="900" b="1">
                          <a:solidFill>
                            <a:schemeClr val="tx1"/>
                          </a:solidFill>
                        </a:rPr>
                        <a:t>Ireland</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7.02</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6"/>
                  </a:ext>
                </a:extLst>
              </a:tr>
              <a:tr h="217675">
                <a:tc>
                  <a:txBody>
                    <a:bodyPr/>
                    <a:lstStyle/>
                    <a:p>
                      <a:pPr>
                        <a:defRPr sz="800"/>
                      </a:pPr>
                      <a:r>
                        <a:rPr sz="900" b="1">
                          <a:solidFill>
                            <a:schemeClr val="tx1"/>
                          </a:solidFill>
                        </a:rPr>
                        <a:t>Germany</a:t>
                      </a:r>
                      <a:endParaRPr sz="900" b="1">
                        <a:solidFill>
                          <a:schemeClr val="tx1"/>
                        </a:solidFill>
                        <a:latin typeface="Aptos Display" panose="020B0004020202020204" pitchFamily="34" charset="0"/>
                      </a:endParaRPr>
                    </a:p>
                  </a:txBody>
                  <a:tcPr/>
                </a:tc>
                <a:tc>
                  <a:txBody>
                    <a:bodyPr/>
                    <a:lstStyle/>
                    <a:p>
                      <a:pPr>
                        <a:defRPr sz="800"/>
                      </a:pPr>
                      <a:r>
                        <a:rPr sz="900" b="1" dirty="0">
                          <a:solidFill>
                            <a:schemeClr val="tx1"/>
                          </a:solidFill>
                        </a:rPr>
                        <a:t>6.99</a:t>
                      </a:r>
                      <a:endParaRPr sz="900" b="1" dirty="0">
                        <a:solidFill>
                          <a:schemeClr val="tx1"/>
                        </a:solidFill>
                        <a:latin typeface="Aptos Display" panose="020B0004020202020204" pitchFamily="34" charset="0"/>
                      </a:endParaRPr>
                    </a:p>
                  </a:txBody>
                  <a:tcPr/>
                </a:tc>
                <a:extLst>
                  <a:ext uri="{0D108BD9-81ED-4DB2-BD59-A6C34878D82A}">
                    <a16:rowId xmlns:a16="http://schemas.microsoft.com/office/drawing/2014/main" val="10017"/>
                  </a:ext>
                </a:extLst>
              </a:tr>
              <a:tr h="217675">
                <a:tc>
                  <a:txBody>
                    <a:bodyPr/>
                    <a:lstStyle/>
                    <a:p>
                      <a:pPr>
                        <a:defRPr sz="800"/>
                      </a:pPr>
                      <a:r>
                        <a:rPr sz="900" b="1">
                          <a:solidFill>
                            <a:schemeClr val="tx1"/>
                          </a:solidFill>
                        </a:rPr>
                        <a:t>Belgium</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6.92</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8"/>
                  </a:ext>
                </a:extLst>
              </a:tr>
              <a:tr h="217675">
                <a:tc>
                  <a:txBody>
                    <a:bodyPr/>
                    <a:lstStyle/>
                    <a:p>
                      <a:pPr>
                        <a:defRPr sz="800"/>
                      </a:pPr>
                      <a:r>
                        <a:rPr sz="900" b="1">
                          <a:solidFill>
                            <a:schemeClr val="tx1"/>
                          </a:solidFill>
                        </a:rPr>
                        <a:t>United States</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6.89</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19"/>
                  </a:ext>
                </a:extLst>
              </a:tr>
              <a:tr h="217675">
                <a:tc>
                  <a:txBody>
                    <a:bodyPr/>
                    <a:lstStyle/>
                    <a:p>
                      <a:pPr>
                        <a:defRPr sz="800"/>
                      </a:pPr>
                      <a:r>
                        <a:rPr sz="900" b="1">
                          <a:solidFill>
                            <a:schemeClr val="tx1"/>
                          </a:solidFill>
                        </a:rPr>
                        <a:t>Czech Republic</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6.85</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20"/>
                  </a:ext>
                </a:extLst>
              </a:tr>
              <a:tr h="217675">
                <a:tc>
                  <a:txBody>
                    <a:bodyPr/>
                    <a:lstStyle/>
                    <a:p>
                      <a:pPr>
                        <a:defRPr sz="800"/>
                      </a:pPr>
                      <a:r>
                        <a:rPr sz="900" b="1">
                          <a:solidFill>
                            <a:schemeClr val="tx1"/>
                          </a:solidFill>
                        </a:rPr>
                        <a:t>United Arab Emirates</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6.83</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21"/>
                  </a:ext>
                </a:extLst>
              </a:tr>
              <a:tr h="217675">
                <a:tc>
                  <a:txBody>
                    <a:bodyPr/>
                    <a:lstStyle/>
                    <a:p>
                      <a:pPr>
                        <a:defRPr sz="800"/>
                      </a:pPr>
                      <a:r>
                        <a:rPr sz="900" b="1">
                          <a:solidFill>
                            <a:schemeClr val="tx1"/>
                          </a:solidFill>
                        </a:rPr>
                        <a:t>Malta</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6.73</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22"/>
                  </a:ext>
                </a:extLst>
              </a:tr>
              <a:tr h="217675">
                <a:tc>
                  <a:txBody>
                    <a:bodyPr/>
                    <a:lstStyle/>
                    <a:p>
                      <a:pPr>
                        <a:defRPr sz="800"/>
                      </a:pPr>
                      <a:r>
                        <a:rPr sz="900" b="1">
                          <a:solidFill>
                            <a:schemeClr val="tx1"/>
                          </a:solidFill>
                        </a:rPr>
                        <a:t>Mexico</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6.6</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23"/>
                  </a:ext>
                </a:extLst>
              </a:tr>
              <a:tr h="217675">
                <a:tc>
                  <a:txBody>
                    <a:bodyPr/>
                    <a:lstStyle/>
                    <a:p>
                      <a:pPr>
                        <a:defRPr sz="800"/>
                      </a:pPr>
                      <a:r>
                        <a:rPr sz="900" b="1">
                          <a:solidFill>
                            <a:schemeClr val="tx1"/>
                          </a:solidFill>
                        </a:rPr>
                        <a:t>France</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6.59</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24"/>
                  </a:ext>
                </a:extLst>
              </a:tr>
              <a:tr h="217675">
                <a:tc>
                  <a:txBody>
                    <a:bodyPr/>
                    <a:lstStyle/>
                    <a:p>
                      <a:pPr>
                        <a:defRPr sz="800"/>
                      </a:pPr>
                      <a:r>
                        <a:rPr sz="900" b="1">
                          <a:solidFill>
                            <a:schemeClr val="tx1"/>
                          </a:solidFill>
                        </a:rPr>
                        <a:t>Taiwan</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6.45</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25"/>
                  </a:ext>
                </a:extLst>
              </a:tr>
              <a:tr h="217675">
                <a:tc>
                  <a:txBody>
                    <a:bodyPr/>
                    <a:lstStyle/>
                    <a:p>
                      <a:pPr>
                        <a:defRPr sz="800"/>
                      </a:pPr>
                      <a:r>
                        <a:rPr sz="900" b="1">
                          <a:solidFill>
                            <a:schemeClr val="tx1"/>
                          </a:solidFill>
                        </a:rPr>
                        <a:t>Chile</a:t>
                      </a:r>
                      <a:endParaRPr sz="900" b="1">
                        <a:solidFill>
                          <a:schemeClr val="tx1"/>
                        </a:solidFill>
                        <a:latin typeface="Aptos Display" panose="020B0004020202020204" pitchFamily="34" charset="0"/>
                      </a:endParaRPr>
                    </a:p>
                  </a:txBody>
                  <a:tcPr/>
                </a:tc>
                <a:tc>
                  <a:txBody>
                    <a:bodyPr/>
                    <a:lstStyle/>
                    <a:p>
                      <a:pPr>
                        <a:defRPr sz="800"/>
                      </a:pPr>
                      <a:r>
                        <a:rPr sz="900" b="1">
                          <a:solidFill>
                            <a:schemeClr val="tx1"/>
                          </a:solidFill>
                        </a:rPr>
                        <a:t>6.44</a:t>
                      </a:r>
                      <a:endParaRPr sz="900" b="1">
                        <a:solidFill>
                          <a:schemeClr val="tx1"/>
                        </a:solidFill>
                        <a:latin typeface="Aptos Display" panose="020B0004020202020204" pitchFamily="34" charset="0"/>
                      </a:endParaRPr>
                    </a:p>
                  </a:txBody>
                  <a:tcPr/>
                </a:tc>
                <a:extLst>
                  <a:ext uri="{0D108BD9-81ED-4DB2-BD59-A6C34878D82A}">
                    <a16:rowId xmlns:a16="http://schemas.microsoft.com/office/drawing/2014/main" val="10026"/>
                  </a:ext>
                </a:extLst>
              </a:tr>
              <a:tr h="217675">
                <a:tc>
                  <a:txBody>
                    <a:bodyPr/>
                    <a:lstStyle/>
                    <a:p>
                      <a:pPr>
                        <a:defRPr sz="800"/>
                      </a:pPr>
                      <a:r>
                        <a:rPr sz="900" b="1" dirty="0">
                          <a:solidFill>
                            <a:schemeClr val="tx1"/>
                          </a:solidFill>
                        </a:rPr>
                        <a:t>Guatemala</a:t>
                      </a:r>
                      <a:endParaRPr sz="900" b="1" dirty="0">
                        <a:solidFill>
                          <a:schemeClr val="tx1"/>
                        </a:solidFill>
                        <a:latin typeface="Aptos Display" panose="020B0004020202020204" pitchFamily="34" charset="0"/>
                      </a:endParaRPr>
                    </a:p>
                  </a:txBody>
                  <a:tcPr/>
                </a:tc>
                <a:tc>
                  <a:txBody>
                    <a:bodyPr/>
                    <a:lstStyle/>
                    <a:p>
                      <a:pPr>
                        <a:defRPr sz="800"/>
                      </a:pPr>
                      <a:r>
                        <a:rPr sz="900" b="1" dirty="0">
                          <a:solidFill>
                            <a:schemeClr val="tx1"/>
                          </a:solidFill>
                        </a:rPr>
                        <a:t>6.44</a:t>
                      </a:r>
                      <a:endParaRPr sz="900" b="1" dirty="0">
                        <a:solidFill>
                          <a:schemeClr val="tx1"/>
                        </a:solidFill>
                        <a:latin typeface="Aptos Display" panose="020B0004020202020204" pitchFamily="34" charset="0"/>
                      </a:endParaRPr>
                    </a:p>
                  </a:txBody>
                  <a:tcPr/>
                </a:tc>
                <a:extLst>
                  <a:ext uri="{0D108BD9-81ED-4DB2-BD59-A6C34878D82A}">
                    <a16:rowId xmlns:a16="http://schemas.microsoft.com/office/drawing/2014/main" val="10027"/>
                  </a:ext>
                </a:extLst>
              </a:tr>
            </a:tbl>
          </a:graphicData>
        </a:graphic>
      </p:graphicFrame>
      <p:sp>
        <p:nvSpPr>
          <p:cNvPr id="39" name="TextBox 38">
            <a:extLst>
              <a:ext uri="{FF2B5EF4-FFF2-40B4-BE49-F238E27FC236}">
                <a16:creationId xmlns:a16="http://schemas.microsoft.com/office/drawing/2014/main" id="{0EB2750F-A3F1-6805-D4E1-E8E0CA78BFFB}"/>
              </a:ext>
            </a:extLst>
          </p:cNvPr>
          <p:cNvSpPr txBox="1"/>
          <p:nvPr/>
        </p:nvSpPr>
        <p:spPr>
          <a:xfrm>
            <a:off x="334050" y="2118835"/>
            <a:ext cx="2749779" cy="1846659"/>
          </a:xfrm>
          <a:prstGeom prst="rect">
            <a:avLst/>
          </a:prstGeom>
          <a:noFill/>
        </p:spPr>
        <p:txBody>
          <a:bodyPr wrap="square" rtlCol="0">
            <a:spAutoFit/>
          </a:bodyPr>
          <a:lstStyle/>
          <a:p>
            <a:pPr algn="ctr"/>
            <a:r>
              <a:rPr lang="en-GB" sz="3200" b="1" dirty="0">
                <a:latin typeface="Aptos Display" panose="020B0004020202020204" pitchFamily="34" charset="0"/>
              </a:rPr>
              <a:t>Global Happiness Rankings</a:t>
            </a:r>
          </a:p>
          <a:p>
            <a:pPr algn="ctr"/>
            <a:r>
              <a:rPr lang="en-GB" sz="1600" dirty="0">
                <a:latin typeface="Aptos Display" panose="020B0004020202020204" pitchFamily="34" charset="0"/>
              </a:rPr>
              <a:t>(Highest to lowest)</a:t>
            </a:r>
          </a:p>
        </p:txBody>
      </p:sp>
    </p:spTree>
    <p:extLst>
      <p:ext uri="{BB962C8B-B14F-4D97-AF65-F5344CB8AC3E}">
        <p14:creationId xmlns:p14="http://schemas.microsoft.com/office/powerpoint/2010/main" val="2908010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727-F601-E54D-48B4-4383033E0E4A}"/>
              </a:ext>
            </a:extLst>
          </p:cNvPr>
          <p:cNvSpPr>
            <a:spLocks noGrp="1"/>
          </p:cNvSpPr>
          <p:nvPr>
            <p:ph type="title" idx="4294967295"/>
          </p:nvPr>
        </p:nvSpPr>
        <p:spPr>
          <a:xfrm>
            <a:off x="1456022" y="-117986"/>
            <a:ext cx="10058400" cy="1158875"/>
          </a:xfrm>
        </p:spPr>
        <p:txBody>
          <a:bodyPr>
            <a:normAutofit fontScale="90000"/>
          </a:bodyPr>
          <a:lstStyle/>
          <a:p>
            <a:pPr algn="ctr">
              <a:lnSpc>
                <a:spcPct val="100000"/>
              </a:lnSpc>
            </a:pPr>
            <a:r>
              <a:rPr lang="en-GB" sz="4400" dirty="0">
                <a:solidFill>
                  <a:schemeClr val="tx1"/>
                </a:solidFill>
                <a:latin typeface="Aptos Display" panose="020B0004020202020204" pitchFamily="34" charset="0"/>
              </a:rPr>
              <a:t>Top 10 </a:t>
            </a:r>
            <a:r>
              <a:rPr lang="en-GB" sz="4400" b="1" dirty="0">
                <a:solidFill>
                  <a:schemeClr val="tx1"/>
                </a:solidFill>
                <a:latin typeface="Aptos Display" panose="020B0004020202020204" pitchFamily="34" charset="0"/>
              </a:rPr>
              <a:t>Happiest</a:t>
            </a:r>
            <a:r>
              <a:rPr lang="en-GB" sz="4400" dirty="0">
                <a:solidFill>
                  <a:schemeClr val="tx1"/>
                </a:solidFill>
                <a:latin typeface="Aptos Display" panose="020B0004020202020204" pitchFamily="34" charset="0"/>
              </a:rPr>
              <a:t>  vs 10 </a:t>
            </a:r>
            <a:r>
              <a:rPr lang="en-GB" sz="4400" b="1" dirty="0">
                <a:solidFill>
                  <a:schemeClr val="tx1"/>
                </a:solidFill>
                <a:latin typeface="Aptos Display" panose="020B0004020202020204" pitchFamily="34" charset="0"/>
              </a:rPr>
              <a:t>Least Happy </a:t>
            </a:r>
            <a:r>
              <a:rPr lang="en-GB" sz="4400" dirty="0">
                <a:solidFill>
                  <a:schemeClr val="tx1"/>
                </a:solidFill>
                <a:latin typeface="Aptos Display" panose="020B0004020202020204" pitchFamily="34" charset="0"/>
              </a:rPr>
              <a:t>Countries</a:t>
            </a:r>
          </a:p>
        </p:txBody>
      </p:sp>
      <p:graphicFrame>
        <p:nvGraphicFramePr>
          <p:cNvPr id="12" name="Chart 11">
            <a:extLst>
              <a:ext uri="{FF2B5EF4-FFF2-40B4-BE49-F238E27FC236}">
                <a16:creationId xmlns:a16="http://schemas.microsoft.com/office/drawing/2014/main" id="{A320D80E-23DF-99C8-99C5-1E41FD9A9A99}"/>
              </a:ext>
            </a:extLst>
          </p:cNvPr>
          <p:cNvGraphicFramePr>
            <a:graphicFrameLocks/>
          </p:cNvGraphicFramePr>
          <p:nvPr>
            <p:extLst>
              <p:ext uri="{D42A27DB-BD31-4B8C-83A1-F6EECF244321}">
                <p14:modId xmlns:p14="http://schemas.microsoft.com/office/powerpoint/2010/main" val="293422933"/>
              </p:ext>
            </p:extLst>
          </p:nvPr>
        </p:nvGraphicFramePr>
        <p:xfrm>
          <a:off x="310122" y="1040889"/>
          <a:ext cx="5538090" cy="530675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CB23C4C9-53F0-012B-DE79-1693415F9149}"/>
              </a:ext>
            </a:extLst>
          </p:cNvPr>
          <p:cNvGraphicFramePr>
            <a:graphicFrameLocks/>
          </p:cNvGraphicFramePr>
          <p:nvPr>
            <p:extLst>
              <p:ext uri="{D42A27DB-BD31-4B8C-83A1-F6EECF244321}">
                <p14:modId xmlns:p14="http://schemas.microsoft.com/office/powerpoint/2010/main" val="1714895609"/>
              </p:ext>
            </p:extLst>
          </p:nvPr>
        </p:nvGraphicFramePr>
        <p:xfrm>
          <a:off x="5768712" y="1040889"/>
          <a:ext cx="6278563" cy="521901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01164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730F1B-1F80-B08C-2833-30561BCCCB50}"/>
              </a:ext>
            </a:extLst>
          </p:cNvPr>
          <p:cNvSpPr txBox="1"/>
          <p:nvPr/>
        </p:nvSpPr>
        <p:spPr>
          <a:xfrm>
            <a:off x="378253" y="429956"/>
            <a:ext cx="3841796" cy="369332"/>
          </a:xfrm>
          <a:prstGeom prst="rect">
            <a:avLst/>
          </a:prstGeom>
          <a:noFill/>
        </p:spPr>
        <p:txBody>
          <a:bodyPr wrap="square" rtlCol="0">
            <a:spAutoFit/>
          </a:bodyPr>
          <a:lstStyle/>
          <a:p>
            <a:pPr algn="ctr"/>
            <a:r>
              <a:rPr lang="en-GB" dirty="0">
                <a:latin typeface="Aptos Display" panose="020B0004020202020204" pitchFamily="34" charset="0"/>
              </a:rPr>
              <a:t>General Data Information</a:t>
            </a:r>
          </a:p>
        </p:txBody>
      </p:sp>
      <p:sp>
        <p:nvSpPr>
          <p:cNvPr id="3" name="Rectangle: Rounded Corners 2">
            <a:extLst>
              <a:ext uri="{FF2B5EF4-FFF2-40B4-BE49-F238E27FC236}">
                <a16:creationId xmlns:a16="http://schemas.microsoft.com/office/drawing/2014/main" id="{1774A531-D5B6-4BEE-1FB5-2EC536CE930C}"/>
              </a:ext>
            </a:extLst>
          </p:cNvPr>
          <p:cNvSpPr/>
          <p:nvPr/>
        </p:nvSpPr>
        <p:spPr>
          <a:xfrm>
            <a:off x="838743" y="2115204"/>
            <a:ext cx="2920817" cy="901244"/>
          </a:xfrm>
          <a:prstGeom prst="roundRect">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ptos Display" panose="020B0004020202020204" pitchFamily="34" charset="0"/>
              </a:rPr>
              <a:t>Happiest Country</a:t>
            </a:r>
          </a:p>
          <a:p>
            <a:pPr algn="ctr"/>
            <a:r>
              <a:rPr lang="en-GB" sz="2400" b="1" dirty="0">
                <a:latin typeface="Aptos Display" panose="020B0004020202020204" pitchFamily="34" charset="0"/>
              </a:rPr>
              <a:t>Finland</a:t>
            </a:r>
          </a:p>
        </p:txBody>
      </p:sp>
      <p:sp>
        <p:nvSpPr>
          <p:cNvPr id="19" name="Rectangle: Rounded Corners 18">
            <a:extLst>
              <a:ext uri="{FF2B5EF4-FFF2-40B4-BE49-F238E27FC236}">
                <a16:creationId xmlns:a16="http://schemas.microsoft.com/office/drawing/2014/main" id="{0FE23B02-ACC9-3EC7-5283-591381E39C85}"/>
              </a:ext>
            </a:extLst>
          </p:cNvPr>
          <p:cNvSpPr/>
          <p:nvPr/>
        </p:nvSpPr>
        <p:spPr>
          <a:xfrm>
            <a:off x="838745" y="991306"/>
            <a:ext cx="2920817" cy="901244"/>
          </a:xfrm>
          <a:prstGeom prst="roundRect">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ptos Display" panose="020B0004020202020204" pitchFamily="34" charset="0"/>
              </a:rPr>
              <a:t>Total Number of Countries</a:t>
            </a:r>
          </a:p>
          <a:p>
            <a:pPr algn="ctr"/>
            <a:r>
              <a:rPr lang="en-GB" sz="3200" b="1" dirty="0">
                <a:latin typeface="Aptos Display" panose="020B0004020202020204" pitchFamily="34" charset="0"/>
              </a:rPr>
              <a:t>156</a:t>
            </a:r>
          </a:p>
        </p:txBody>
      </p:sp>
      <p:sp>
        <p:nvSpPr>
          <p:cNvPr id="21" name="Rectangle: Rounded Corners 20">
            <a:extLst>
              <a:ext uri="{FF2B5EF4-FFF2-40B4-BE49-F238E27FC236}">
                <a16:creationId xmlns:a16="http://schemas.microsoft.com/office/drawing/2014/main" id="{13554368-D97B-63F2-B508-DEA2E3E71449}"/>
              </a:ext>
            </a:extLst>
          </p:cNvPr>
          <p:cNvSpPr/>
          <p:nvPr/>
        </p:nvSpPr>
        <p:spPr>
          <a:xfrm>
            <a:off x="838743" y="3288730"/>
            <a:ext cx="2920817" cy="901244"/>
          </a:xfrm>
          <a:prstGeom prst="roundRect">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ptos Display" panose="020B0004020202020204" pitchFamily="34" charset="0"/>
              </a:rPr>
              <a:t>Less Happy Country</a:t>
            </a:r>
          </a:p>
          <a:p>
            <a:pPr algn="ctr"/>
            <a:r>
              <a:rPr lang="en-GB" sz="2400" b="1" dirty="0">
                <a:latin typeface="Aptos Display" panose="020B0004020202020204" pitchFamily="34" charset="0"/>
              </a:rPr>
              <a:t>South Sudan</a:t>
            </a:r>
          </a:p>
        </p:txBody>
      </p:sp>
      <p:sp>
        <p:nvSpPr>
          <p:cNvPr id="23" name="Rectangle: Rounded Corners 22">
            <a:extLst>
              <a:ext uri="{FF2B5EF4-FFF2-40B4-BE49-F238E27FC236}">
                <a16:creationId xmlns:a16="http://schemas.microsoft.com/office/drawing/2014/main" id="{7A102CCE-AE48-350D-F5C5-3D2C94F4F460}"/>
              </a:ext>
            </a:extLst>
          </p:cNvPr>
          <p:cNvSpPr/>
          <p:nvPr/>
        </p:nvSpPr>
        <p:spPr>
          <a:xfrm>
            <a:off x="5658536" y="991306"/>
            <a:ext cx="2458139" cy="827784"/>
          </a:xfrm>
          <a:prstGeom prst="roundRect">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latin typeface="Aptos Display" panose="020B0004020202020204" pitchFamily="34" charset="0"/>
              </a:rPr>
              <a:t>Avg</a:t>
            </a:r>
            <a:r>
              <a:rPr lang="en-GB" dirty="0">
                <a:solidFill>
                  <a:schemeClr val="tx1"/>
                </a:solidFill>
                <a:latin typeface="Aptos Display" panose="020B0004020202020204" pitchFamily="34" charset="0"/>
              </a:rPr>
              <a:t> Happiness Score</a:t>
            </a:r>
          </a:p>
          <a:p>
            <a:pPr algn="ctr"/>
            <a:r>
              <a:rPr lang="en-GB" b="1" dirty="0">
                <a:latin typeface="Aptos Display" panose="020B0004020202020204" pitchFamily="34" charset="0"/>
              </a:rPr>
              <a:t>5.41</a:t>
            </a:r>
          </a:p>
        </p:txBody>
      </p:sp>
      <p:sp>
        <p:nvSpPr>
          <p:cNvPr id="35" name="Rectangle: Rounded Corners 34">
            <a:extLst>
              <a:ext uri="{FF2B5EF4-FFF2-40B4-BE49-F238E27FC236}">
                <a16:creationId xmlns:a16="http://schemas.microsoft.com/office/drawing/2014/main" id="{2AA61792-15D2-BD38-76F1-FEAFD36CC007}"/>
              </a:ext>
            </a:extLst>
          </p:cNvPr>
          <p:cNvSpPr/>
          <p:nvPr/>
        </p:nvSpPr>
        <p:spPr>
          <a:xfrm>
            <a:off x="8491643" y="991306"/>
            <a:ext cx="2458139" cy="827784"/>
          </a:xfrm>
          <a:prstGeom prst="roundRect">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latin typeface="Aptos Display" panose="020B0004020202020204" pitchFamily="34" charset="0"/>
              </a:rPr>
              <a:t>Avg</a:t>
            </a:r>
            <a:r>
              <a:rPr lang="en-GB" dirty="0">
                <a:solidFill>
                  <a:schemeClr val="tx1"/>
                </a:solidFill>
                <a:latin typeface="Aptos Display" panose="020B0004020202020204" pitchFamily="34" charset="0"/>
              </a:rPr>
              <a:t> GDP per Capita</a:t>
            </a:r>
          </a:p>
          <a:p>
            <a:pPr algn="ctr"/>
            <a:r>
              <a:rPr lang="en-GB" b="1" dirty="0">
                <a:latin typeface="Aptos Display" panose="020B0004020202020204" pitchFamily="34" charset="0"/>
              </a:rPr>
              <a:t>0.91</a:t>
            </a:r>
          </a:p>
        </p:txBody>
      </p:sp>
      <p:sp>
        <p:nvSpPr>
          <p:cNvPr id="37" name="Rectangle: Rounded Corners 36">
            <a:extLst>
              <a:ext uri="{FF2B5EF4-FFF2-40B4-BE49-F238E27FC236}">
                <a16:creationId xmlns:a16="http://schemas.microsoft.com/office/drawing/2014/main" id="{8E0A5A19-B3A3-7919-F409-2C2BB10C7D1B}"/>
              </a:ext>
            </a:extLst>
          </p:cNvPr>
          <p:cNvSpPr/>
          <p:nvPr/>
        </p:nvSpPr>
        <p:spPr>
          <a:xfrm>
            <a:off x="5575205" y="2145187"/>
            <a:ext cx="2458139" cy="827784"/>
          </a:xfrm>
          <a:prstGeom prst="roundRect">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latin typeface="Aptos Display" panose="020B0004020202020204" pitchFamily="34" charset="0"/>
              </a:rPr>
              <a:t>Avg</a:t>
            </a:r>
            <a:r>
              <a:rPr lang="en-GB" dirty="0">
                <a:solidFill>
                  <a:schemeClr val="tx1"/>
                </a:solidFill>
                <a:latin typeface="Aptos Display" panose="020B0004020202020204" pitchFamily="34" charset="0"/>
              </a:rPr>
              <a:t> Social Support</a:t>
            </a:r>
          </a:p>
          <a:p>
            <a:pPr algn="ctr"/>
            <a:r>
              <a:rPr lang="en-GB" b="1" dirty="0">
                <a:latin typeface="Aptos Display" panose="020B0004020202020204" pitchFamily="34" charset="0"/>
              </a:rPr>
              <a:t>1.21</a:t>
            </a:r>
          </a:p>
        </p:txBody>
      </p:sp>
      <p:sp>
        <p:nvSpPr>
          <p:cNvPr id="39" name="Rectangle: Rounded Corners 38">
            <a:extLst>
              <a:ext uri="{FF2B5EF4-FFF2-40B4-BE49-F238E27FC236}">
                <a16:creationId xmlns:a16="http://schemas.microsoft.com/office/drawing/2014/main" id="{264BB3BB-86D6-D693-A30A-3622C77CA018}"/>
              </a:ext>
            </a:extLst>
          </p:cNvPr>
          <p:cNvSpPr/>
          <p:nvPr/>
        </p:nvSpPr>
        <p:spPr>
          <a:xfrm>
            <a:off x="8564007" y="2145187"/>
            <a:ext cx="2458139" cy="827784"/>
          </a:xfrm>
          <a:prstGeom prst="roundRect">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latin typeface="Aptos Display" panose="020B0004020202020204" pitchFamily="34" charset="0"/>
              </a:rPr>
              <a:t>Avg</a:t>
            </a:r>
            <a:r>
              <a:rPr lang="en-GB" dirty="0">
                <a:solidFill>
                  <a:schemeClr val="tx1"/>
                </a:solidFill>
                <a:latin typeface="Aptos Display" panose="020B0004020202020204" pitchFamily="34" charset="0"/>
              </a:rPr>
              <a:t> Healthy Expectancy</a:t>
            </a:r>
          </a:p>
          <a:p>
            <a:pPr algn="ctr"/>
            <a:r>
              <a:rPr lang="en-GB" b="1" dirty="0">
                <a:latin typeface="Aptos Display" panose="020B0004020202020204" pitchFamily="34" charset="0"/>
              </a:rPr>
              <a:t>0.73</a:t>
            </a:r>
          </a:p>
        </p:txBody>
      </p:sp>
      <p:sp>
        <p:nvSpPr>
          <p:cNvPr id="41" name="TextBox 40">
            <a:extLst>
              <a:ext uri="{FF2B5EF4-FFF2-40B4-BE49-F238E27FC236}">
                <a16:creationId xmlns:a16="http://schemas.microsoft.com/office/drawing/2014/main" id="{E6680DF5-9186-D77E-C9AB-44E275235F0E}"/>
              </a:ext>
            </a:extLst>
          </p:cNvPr>
          <p:cNvSpPr txBox="1"/>
          <p:nvPr/>
        </p:nvSpPr>
        <p:spPr>
          <a:xfrm>
            <a:off x="6314189" y="429956"/>
            <a:ext cx="3841796" cy="369332"/>
          </a:xfrm>
          <a:prstGeom prst="rect">
            <a:avLst/>
          </a:prstGeom>
          <a:noFill/>
        </p:spPr>
        <p:txBody>
          <a:bodyPr wrap="square" rtlCol="0">
            <a:spAutoFit/>
          </a:bodyPr>
          <a:lstStyle/>
          <a:p>
            <a:pPr algn="ctr"/>
            <a:r>
              <a:rPr lang="en-GB" dirty="0">
                <a:latin typeface="Aptos Display" panose="020B0004020202020204" pitchFamily="34" charset="0"/>
              </a:rPr>
              <a:t>General Global Data Analysis</a:t>
            </a:r>
          </a:p>
        </p:txBody>
      </p:sp>
      <p:sp>
        <p:nvSpPr>
          <p:cNvPr id="45" name="Rectangle: Rounded Corners 44">
            <a:extLst>
              <a:ext uri="{FF2B5EF4-FFF2-40B4-BE49-F238E27FC236}">
                <a16:creationId xmlns:a16="http://schemas.microsoft.com/office/drawing/2014/main" id="{A5974D4C-5658-F61A-245D-C893C3A78BCB}"/>
              </a:ext>
            </a:extLst>
          </p:cNvPr>
          <p:cNvSpPr/>
          <p:nvPr/>
        </p:nvSpPr>
        <p:spPr>
          <a:xfrm>
            <a:off x="5658537" y="3534321"/>
            <a:ext cx="2458139" cy="827784"/>
          </a:xfrm>
          <a:prstGeom prst="roundRect">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latin typeface="Aptos Display" panose="020B0004020202020204" pitchFamily="34" charset="0"/>
              </a:rPr>
              <a:t>Avg</a:t>
            </a:r>
            <a:r>
              <a:rPr lang="en-GB" dirty="0">
                <a:solidFill>
                  <a:schemeClr val="tx1"/>
                </a:solidFill>
                <a:latin typeface="Aptos Display" panose="020B0004020202020204" pitchFamily="34" charset="0"/>
              </a:rPr>
              <a:t> Freedom to make life choices</a:t>
            </a:r>
          </a:p>
          <a:p>
            <a:pPr algn="ctr"/>
            <a:r>
              <a:rPr lang="en-GB" b="1" dirty="0">
                <a:latin typeface="Aptos Display" panose="020B0004020202020204" pitchFamily="34" charset="0"/>
              </a:rPr>
              <a:t>0.39</a:t>
            </a:r>
          </a:p>
        </p:txBody>
      </p:sp>
      <p:sp>
        <p:nvSpPr>
          <p:cNvPr id="47" name="Rectangle: Rounded Corners 46">
            <a:extLst>
              <a:ext uri="{FF2B5EF4-FFF2-40B4-BE49-F238E27FC236}">
                <a16:creationId xmlns:a16="http://schemas.microsoft.com/office/drawing/2014/main" id="{C214E65F-B63B-FCAF-36B6-6127CF1EC90A}"/>
              </a:ext>
            </a:extLst>
          </p:cNvPr>
          <p:cNvSpPr/>
          <p:nvPr/>
        </p:nvSpPr>
        <p:spPr>
          <a:xfrm>
            <a:off x="8564006" y="3499401"/>
            <a:ext cx="2458139" cy="827784"/>
          </a:xfrm>
          <a:prstGeom prst="roundRect">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latin typeface="Aptos Display" panose="020B0004020202020204" pitchFamily="34" charset="0"/>
              </a:rPr>
              <a:t>Avg</a:t>
            </a:r>
            <a:r>
              <a:rPr lang="en-GB" dirty="0">
                <a:solidFill>
                  <a:schemeClr val="tx1"/>
                </a:solidFill>
                <a:latin typeface="Aptos Display" panose="020B0004020202020204" pitchFamily="34" charset="0"/>
              </a:rPr>
              <a:t> Generosity</a:t>
            </a:r>
          </a:p>
          <a:p>
            <a:pPr algn="ctr"/>
            <a:r>
              <a:rPr lang="en-GB" b="1" dirty="0">
                <a:latin typeface="Aptos Display" panose="020B0004020202020204" pitchFamily="34" charset="0"/>
              </a:rPr>
              <a:t>0.19</a:t>
            </a:r>
          </a:p>
        </p:txBody>
      </p:sp>
      <p:sp>
        <p:nvSpPr>
          <p:cNvPr id="49" name="Rectangle: Rounded Corners 48">
            <a:extLst>
              <a:ext uri="{FF2B5EF4-FFF2-40B4-BE49-F238E27FC236}">
                <a16:creationId xmlns:a16="http://schemas.microsoft.com/office/drawing/2014/main" id="{FDD3DC38-06E9-3561-CF99-F4F633FF9CE9}"/>
              </a:ext>
            </a:extLst>
          </p:cNvPr>
          <p:cNvSpPr/>
          <p:nvPr/>
        </p:nvSpPr>
        <p:spPr>
          <a:xfrm>
            <a:off x="7006018" y="4688202"/>
            <a:ext cx="2458139" cy="827784"/>
          </a:xfrm>
          <a:prstGeom prst="roundRect">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latin typeface="Aptos Display" panose="020B0004020202020204" pitchFamily="34" charset="0"/>
              </a:rPr>
              <a:t>Avg</a:t>
            </a:r>
            <a:r>
              <a:rPr lang="en-GB" dirty="0">
                <a:solidFill>
                  <a:schemeClr val="tx1"/>
                </a:solidFill>
                <a:latin typeface="Aptos Display" panose="020B0004020202020204" pitchFamily="34" charset="0"/>
              </a:rPr>
              <a:t> Corruption’s perception</a:t>
            </a:r>
          </a:p>
          <a:p>
            <a:pPr algn="ctr"/>
            <a:r>
              <a:rPr lang="en-GB" b="1" dirty="0">
                <a:latin typeface="Aptos Display" panose="020B0004020202020204" pitchFamily="34" charset="0"/>
              </a:rPr>
              <a:t>0.11</a:t>
            </a:r>
          </a:p>
        </p:txBody>
      </p:sp>
      <p:sp>
        <p:nvSpPr>
          <p:cNvPr id="51" name="Rectangle: Rounded Corners 50">
            <a:extLst>
              <a:ext uri="{FF2B5EF4-FFF2-40B4-BE49-F238E27FC236}">
                <a16:creationId xmlns:a16="http://schemas.microsoft.com/office/drawing/2014/main" id="{72A5A89A-902E-88CA-2534-FB5CE37276A5}"/>
              </a:ext>
            </a:extLst>
          </p:cNvPr>
          <p:cNvSpPr/>
          <p:nvPr/>
        </p:nvSpPr>
        <p:spPr>
          <a:xfrm>
            <a:off x="838743" y="4462256"/>
            <a:ext cx="2920817" cy="901244"/>
          </a:xfrm>
          <a:prstGeom prst="roundRect">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ptos Display" panose="020B0004020202020204" pitchFamily="34" charset="0"/>
              </a:rPr>
              <a:t>Highest GDP per capita</a:t>
            </a:r>
          </a:p>
          <a:p>
            <a:pPr algn="ctr"/>
            <a:r>
              <a:rPr lang="en-GB" sz="2400" b="1" dirty="0">
                <a:latin typeface="Aptos Display" panose="020B0004020202020204" pitchFamily="34" charset="0"/>
              </a:rPr>
              <a:t>Qatar</a:t>
            </a:r>
          </a:p>
        </p:txBody>
      </p:sp>
    </p:spTree>
    <p:extLst>
      <p:ext uri="{BB962C8B-B14F-4D97-AF65-F5344CB8AC3E}">
        <p14:creationId xmlns:p14="http://schemas.microsoft.com/office/powerpoint/2010/main" val="135710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4DD4E226-8FFD-3C32-7F4A-ABBCC01811A9}"/>
              </a:ext>
            </a:extLst>
          </p:cNvPr>
          <p:cNvSpPr/>
          <p:nvPr/>
        </p:nvSpPr>
        <p:spPr>
          <a:xfrm>
            <a:off x="763096" y="2133520"/>
            <a:ext cx="4183873" cy="2091937"/>
          </a:xfrm>
          <a:prstGeom prst="roundRect">
            <a:avLst/>
          </a:prstGeom>
          <a:solidFill>
            <a:schemeClr val="accent1">
              <a:lumMod val="40000"/>
              <a:lumOff val="60000"/>
            </a:scheme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err="1">
                <a:solidFill>
                  <a:schemeClr val="tx1"/>
                </a:solidFill>
                <a:latin typeface="Aptos Display" panose="020B0004020202020204" pitchFamily="34" charset="0"/>
              </a:rPr>
              <a:t>Avg</a:t>
            </a:r>
            <a:r>
              <a:rPr lang="en-GB" b="1" dirty="0">
                <a:solidFill>
                  <a:schemeClr val="tx1"/>
                </a:solidFill>
                <a:latin typeface="Aptos Display" panose="020B0004020202020204" pitchFamily="34" charset="0"/>
              </a:rPr>
              <a:t> Happiness Global Score</a:t>
            </a:r>
          </a:p>
          <a:p>
            <a:pPr algn="ctr"/>
            <a:r>
              <a:rPr lang="en-GB" sz="6000" b="1" dirty="0">
                <a:solidFill>
                  <a:schemeClr val="tx1"/>
                </a:solidFill>
                <a:latin typeface="Aptos Display" panose="020B0004020202020204" pitchFamily="34" charset="0"/>
              </a:rPr>
              <a:t>5.41</a:t>
            </a:r>
          </a:p>
        </p:txBody>
      </p:sp>
      <p:sp>
        <p:nvSpPr>
          <p:cNvPr id="12" name="Rectangle: Rounded Corners 11">
            <a:extLst>
              <a:ext uri="{FF2B5EF4-FFF2-40B4-BE49-F238E27FC236}">
                <a16:creationId xmlns:a16="http://schemas.microsoft.com/office/drawing/2014/main" id="{C5DFA509-6A17-8760-606E-7098194B22B3}"/>
              </a:ext>
            </a:extLst>
          </p:cNvPr>
          <p:cNvSpPr/>
          <p:nvPr/>
        </p:nvSpPr>
        <p:spPr>
          <a:xfrm>
            <a:off x="6144242" y="1589582"/>
            <a:ext cx="3664179" cy="1839418"/>
          </a:xfrm>
          <a:prstGeom prst="roundRect">
            <a:avLst/>
          </a:prstGeom>
          <a:solidFill>
            <a:schemeClr val="accent1">
              <a:lumMod val="40000"/>
              <a:lumOff val="60000"/>
            </a:scheme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Aptos Display" panose="020B0004020202020204" pitchFamily="34" charset="0"/>
              </a:rPr>
              <a:t>Number of Countries above </a:t>
            </a:r>
            <a:r>
              <a:rPr lang="en-GB" b="1" dirty="0" err="1">
                <a:solidFill>
                  <a:schemeClr val="tx1"/>
                </a:solidFill>
                <a:latin typeface="Aptos Display" panose="020B0004020202020204" pitchFamily="34" charset="0"/>
              </a:rPr>
              <a:t>Avg</a:t>
            </a:r>
            <a:endParaRPr lang="en-GB" b="1" dirty="0">
              <a:solidFill>
                <a:schemeClr val="tx1"/>
              </a:solidFill>
              <a:latin typeface="Aptos Display" panose="020B0004020202020204" pitchFamily="34" charset="0"/>
            </a:endParaRPr>
          </a:p>
          <a:p>
            <a:pPr algn="ctr"/>
            <a:r>
              <a:rPr lang="en-GB" sz="2400" b="1" dirty="0">
                <a:solidFill>
                  <a:schemeClr val="tx1"/>
                </a:solidFill>
                <a:latin typeface="Aptos Display" panose="020B0004020202020204" pitchFamily="34" charset="0"/>
              </a:rPr>
              <a:t>77</a:t>
            </a:r>
          </a:p>
        </p:txBody>
      </p:sp>
      <p:sp>
        <p:nvSpPr>
          <p:cNvPr id="15" name="TextBox 14">
            <a:extLst>
              <a:ext uri="{FF2B5EF4-FFF2-40B4-BE49-F238E27FC236}">
                <a16:creationId xmlns:a16="http://schemas.microsoft.com/office/drawing/2014/main" id="{19583262-D3F7-AA94-E901-9FD6C432E1A3}"/>
              </a:ext>
            </a:extLst>
          </p:cNvPr>
          <p:cNvSpPr txBox="1"/>
          <p:nvPr/>
        </p:nvSpPr>
        <p:spPr>
          <a:xfrm>
            <a:off x="662340" y="417058"/>
            <a:ext cx="10867320" cy="646331"/>
          </a:xfrm>
          <a:prstGeom prst="rect">
            <a:avLst/>
          </a:prstGeom>
          <a:noFill/>
        </p:spPr>
        <p:txBody>
          <a:bodyPr wrap="square" rtlCol="0">
            <a:spAutoFit/>
          </a:bodyPr>
          <a:lstStyle/>
          <a:p>
            <a:pPr algn="ctr"/>
            <a:r>
              <a:rPr lang="en-GB" sz="3600" dirty="0"/>
              <a:t>Key Metric Highlighted: </a:t>
            </a:r>
            <a:r>
              <a:rPr lang="en-GB" sz="3600" b="1" dirty="0"/>
              <a:t>Average Global Happiness Score</a:t>
            </a:r>
          </a:p>
        </p:txBody>
      </p:sp>
      <p:sp>
        <p:nvSpPr>
          <p:cNvPr id="17" name="Rectangle: Rounded Corners 16">
            <a:extLst>
              <a:ext uri="{FF2B5EF4-FFF2-40B4-BE49-F238E27FC236}">
                <a16:creationId xmlns:a16="http://schemas.microsoft.com/office/drawing/2014/main" id="{906392E8-E2A9-38EB-3827-14403F7D0008}"/>
              </a:ext>
            </a:extLst>
          </p:cNvPr>
          <p:cNvSpPr/>
          <p:nvPr/>
        </p:nvSpPr>
        <p:spPr>
          <a:xfrm>
            <a:off x="6144241" y="3955193"/>
            <a:ext cx="3664179" cy="1839418"/>
          </a:xfrm>
          <a:prstGeom prst="roundRect">
            <a:avLst/>
          </a:prstGeom>
          <a:solidFill>
            <a:schemeClr val="accent1">
              <a:lumMod val="40000"/>
              <a:lumOff val="60000"/>
            </a:scheme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Aptos Display" panose="020B0004020202020204" pitchFamily="34" charset="0"/>
              </a:rPr>
              <a:t>Number of countries below </a:t>
            </a:r>
            <a:r>
              <a:rPr lang="en-GB" b="1" dirty="0" err="1">
                <a:solidFill>
                  <a:schemeClr val="tx1"/>
                </a:solidFill>
                <a:latin typeface="Aptos Display" panose="020B0004020202020204" pitchFamily="34" charset="0"/>
              </a:rPr>
              <a:t>Avg</a:t>
            </a:r>
            <a:endParaRPr lang="en-GB" b="1" dirty="0">
              <a:solidFill>
                <a:schemeClr val="tx1"/>
              </a:solidFill>
              <a:latin typeface="Aptos Display" panose="020B0004020202020204" pitchFamily="34" charset="0"/>
            </a:endParaRPr>
          </a:p>
          <a:p>
            <a:pPr algn="ctr"/>
            <a:r>
              <a:rPr lang="en-GB" sz="2400" b="1" dirty="0">
                <a:solidFill>
                  <a:schemeClr val="tx1"/>
                </a:solidFill>
                <a:latin typeface="Aptos Display" panose="020B0004020202020204" pitchFamily="34" charset="0"/>
              </a:rPr>
              <a:t>79</a:t>
            </a:r>
          </a:p>
          <a:p>
            <a:pPr algn="ctr"/>
            <a:endParaRPr lang="en-GB" sz="2400" b="1" dirty="0">
              <a:solidFill>
                <a:schemeClr val="tx1"/>
              </a:solidFill>
              <a:latin typeface="Aptos Display" panose="020B0004020202020204" pitchFamily="34" charset="0"/>
            </a:endParaRPr>
          </a:p>
        </p:txBody>
      </p:sp>
      <p:sp>
        <p:nvSpPr>
          <p:cNvPr id="18" name="Rectangle: Rounded Corners 17">
            <a:extLst>
              <a:ext uri="{FF2B5EF4-FFF2-40B4-BE49-F238E27FC236}">
                <a16:creationId xmlns:a16="http://schemas.microsoft.com/office/drawing/2014/main" id="{A7558037-06BC-3E6B-1B51-841BBC5F1B20}"/>
              </a:ext>
            </a:extLst>
          </p:cNvPr>
          <p:cNvSpPr/>
          <p:nvPr/>
        </p:nvSpPr>
        <p:spPr>
          <a:xfrm>
            <a:off x="763096" y="2140099"/>
            <a:ext cx="4183873" cy="2091937"/>
          </a:xfrm>
          <a:prstGeom prst="roundRect">
            <a:avLst/>
          </a:prstGeom>
          <a:solidFill>
            <a:schemeClr val="accent1">
              <a:lumMod val="40000"/>
              <a:lumOff val="60000"/>
            </a:scheme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err="1">
                <a:solidFill>
                  <a:schemeClr val="tx1"/>
                </a:solidFill>
                <a:latin typeface="Aptos Display" panose="020B0004020202020204" pitchFamily="34" charset="0"/>
              </a:rPr>
              <a:t>Avg</a:t>
            </a:r>
            <a:r>
              <a:rPr lang="en-GB" sz="2400" b="1" dirty="0">
                <a:solidFill>
                  <a:schemeClr val="tx1"/>
                </a:solidFill>
                <a:latin typeface="Aptos Display" panose="020B0004020202020204" pitchFamily="34" charset="0"/>
              </a:rPr>
              <a:t> Happiness Global Score</a:t>
            </a:r>
          </a:p>
          <a:p>
            <a:pPr algn="ctr"/>
            <a:r>
              <a:rPr lang="en-GB" sz="6000" b="1" dirty="0">
                <a:solidFill>
                  <a:schemeClr val="tx1"/>
                </a:solidFill>
                <a:latin typeface="Aptos Display" panose="020B0004020202020204" pitchFamily="34" charset="0"/>
              </a:rPr>
              <a:t>5.41</a:t>
            </a:r>
          </a:p>
        </p:txBody>
      </p:sp>
      <p:sp>
        <p:nvSpPr>
          <p:cNvPr id="19" name="Rectangle: Rounded Corners 18">
            <a:extLst>
              <a:ext uri="{FF2B5EF4-FFF2-40B4-BE49-F238E27FC236}">
                <a16:creationId xmlns:a16="http://schemas.microsoft.com/office/drawing/2014/main" id="{5C1015A2-227B-906C-C943-A9B0EC137F40}"/>
              </a:ext>
            </a:extLst>
          </p:cNvPr>
          <p:cNvSpPr/>
          <p:nvPr/>
        </p:nvSpPr>
        <p:spPr>
          <a:xfrm>
            <a:off x="6144241" y="3961772"/>
            <a:ext cx="3664179" cy="1839418"/>
          </a:xfrm>
          <a:prstGeom prst="roundRect">
            <a:avLst/>
          </a:prstGeom>
          <a:solidFill>
            <a:schemeClr val="accent1">
              <a:lumMod val="40000"/>
              <a:lumOff val="60000"/>
            </a:scheme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Aptos Display" panose="020B0004020202020204" pitchFamily="34" charset="0"/>
              </a:rPr>
              <a:t>Number of countries below </a:t>
            </a:r>
            <a:r>
              <a:rPr lang="en-GB" b="1" dirty="0" err="1">
                <a:solidFill>
                  <a:schemeClr val="tx1"/>
                </a:solidFill>
                <a:latin typeface="Aptos Display" panose="020B0004020202020204" pitchFamily="34" charset="0"/>
              </a:rPr>
              <a:t>Avg</a:t>
            </a:r>
            <a:endParaRPr lang="en-GB" b="1" dirty="0">
              <a:solidFill>
                <a:schemeClr val="tx1"/>
              </a:solidFill>
              <a:latin typeface="Aptos Display" panose="020B0004020202020204" pitchFamily="34" charset="0"/>
            </a:endParaRPr>
          </a:p>
          <a:p>
            <a:pPr algn="ctr"/>
            <a:r>
              <a:rPr lang="en-GB" sz="2400" b="1" dirty="0">
                <a:solidFill>
                  <a:schemeClr val="tx1"/>
                </a:solidFill>
                <a:latin typeface="Aptos Display" panose="020B0004020202020204" pitchFamily="34" charset="0"/>
              </a:rPr>
              <a:t>79</a:t>
            </a:r>
          </a:p>
          <a:p>
            <a:pPr algn="ctr"/>
            <a:endParaRPr lang="en-GB" sz="2400" b="1" dirty="0">
              <a:solidFill>
                <a:schemeClr val="tx1"/>
              </a:solidFill>
              <a:latin typeface="Aptos Display" panose="020B0004020202020204" pitchFamily="34" charset="0"/>
            </a:endParaRPr>
          </a:p>
        </p:txBody>
      </p:sp>
    </p:spTree>
    <p:extLst>
      <p:ext uri="{BB962C8B-B14F-4D97-AF65-F5344CB8AC3E}">
        <p14:creationId xmlns:p14="http://schemas.microsoft.com/office/powerpoint/2010/main" val="2598393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BFEE4-36BD-E5C3-0A82-E6AC218F312F}"/>
              </a:ext>
            </a:extLst>
          </p:cNvPr>
          <p:cNvSpPr txBox="1">
            <a:spLocks/>
          </p:cNvSpPr>
          <p:nvPr/>
        </p:nvSpPr>
        <p:spPr>
          <a:xfrm>
            <a:off x="645090" y="-116474"/>
            <a:ext cx="11037936" cy="1158875"/>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lnSpc>
                <a:spcPct val="100000"/>
              </a:lnSpc>
            </a:pPr>
            <a:r>
              <a:rPr lang="en-GB" sz="3600" b="1" dirty="0">
                <a:solidFill>
                  <a:schemeClr val="tx1"/>
                </a:solidFill>
                <a:latin typeface="Aptos Display" panose="020B0004020202020204" pitchFamily="34" charset="0"/>
              </a:rPr>
              <a:t>Highest GDP per capita country </a:t>
            </a:r>
            <a:r>
              <a:rPr lang="en-GB" sz="3600" dirty="0">
                <a:solidFill>
                  <a:schemeClr val="tx1"/>
                </a:solidFill>
                <a:latin typeface="Aptos Display" panose="020B0004020202020204" pitchFamily="34" charset="0"/>
              </a:rPr>
              <a:t>vs Global Average Happiness</a:t>
            </a:r>
          </a:p>
        </p:txBody>
      </p:sp>
      <p:sp>
        <p:nvSpPr>
          <p:cNvPr id="4" name="Rectangle: Rounded Corners 3">
            <a:extLst>
              <a:ext uri="{FF2B5EF4-FFF2-40B4-BE49-F238E27FC236}">
                <a16:creationId xmlns:a16="http://schemas.microsoft.com/office/drawing/2014/main" id="{75E22025-CCD6-251B-14E6-6EA261A3BEB0}"/>
              </a:ext>
            </a:extLst>
          </p:cNvPr>
          <p:cNvSpPr/>
          <p:nvPr/>
        </p:nvSpPr>
        <p:spPr>
          <a:xfrm>
            <a:off x="7666047" y="2495308"/>
            <a:ext cx="3583047" cy="1083351"/>
          </a:xfrm>
          <a:prstGeom prst="roundRect">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ptos Display" panose="020B0004020202020204" pitchFamily="34" charset="0"/>
              </a:rPr>
              <a:t>Highest GDP per capita Country</a:t>
            </a:r>
          </a:p>
          <a:p>
            <a:pPr algn="ctr"/>
            <a:r>
              <a:rPr lang="en-GB" sz="2400" b="1" dirty="0">
                <a:latin typeface="Aptos Display" panose="020B0004020202020204" pitchFamily="34" charset="0"/>
              </a:rPr>
              <a:t>Qatar</a:t>
            </a:r>
          </a:p>
        </p:txBody>
      </p:sp>
      <p:graphicFrame>
        <p:nvGraphicFramePr>
          <p:cNvPr id="5" name="Chart 4">
            <a:extLst>
              <a:ext uri="{FF2B5EF4-FFF2-40B4-BE49-F238E27FC236}">
                <a16:creationId xmlns:a16="http://schemas.microsoft.com/office/drawing/2014/main" id="{F67F7E7D-5794-A484-42AA-6B962F1279A7}"/>
              </a:ext>
            </a:extLst>
          </p:cNvPr>
          <p:cNvGraphicFramePr>
            <a:graphicFrameLocks/>
          </p:cNvGraphicFramePr>
          <p:nvPr>
            <p:extLst>
              <p:ext uri="{D42A27DB-BD31-4B8C-83A1-F6EECF244321}">
                <p14:modId xmlns:p14="http://schemas.microsoft.com/office/powerpoint/2010/main" val="3591248637"/>
              </p:ext>
            </p:extLst>
          </p:nvPr>
        </p:nvGraphicFramePr>
        <p:xfrm>
          <a:off x="530657" y="1569951"/>
          <a:ext cx="6688138" cy="43989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09805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DC2DF2-F935-909B-206E-792A417265E9}"/>
              </a:ext>
            </a:extLst>
          </p:cNvPr>
          <p:cNvSpPr txBox="1">
            <a:spLocks/>
          </p:cNvSpPr>
          <p:nvPr/>
        </p:nvSpPr>
        <p:spPr>
          <a:xfrm>
            <a:off x="674288" y="262063"/>
            <a:ext cx="10058400" cy="1158875"/>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lnSpc>
                <a:spcPct val="100000"/>
              </a:lnSpc>
            </a:pPr>
            <a:r>
              <a:rPr lang="en-GB" sz="3600" dirty="0">
                <a:solidFill>
                  <a:schemeClr val="tx1"/>
                </a:solidFill>
                <a:latin typeface="Aptos Display" panose="020B0004020202020204" pitchFamily="34" charset="0"/>
              </a:rPr>
              <a:t>Top 5 Countries with the </a:t>
            </a:r>
            <a:r>
              <a:rPr lang="en-GB" sz="3600" b="1" dirty="0">
                <a:solidFill>
                  <a:schemeClr val="tx1"/>
                </a:solidFill>
                <a:latin typeface="Aptos Display" panose="020B0004020202020204" pitchFamily="34" charset="0"/>
              </a:rPr>
              <a:t>Highest Social Support </a:t>
            </a:r>
          </a:p>
        </p:txBody>
      </p:sp>
      <p:graphicFrame>
        <p:nvGraphicFramePr>
          <p:cNvPr id="5" name="Chart 4">
            <a:extLst>
              <a:ext uri="{FF2B5EF4-FFF2-40B4-BE49-F238E27FC236}">
                <a16:creationId xmlns:a16="http://schemas.microsoft.com/office/drawing/2014/main" id="{6B8860D1-E921-CE9F-D844-C32400C57743}"/>
              </a:ext>
            </a:extLst>
          </p:cNvPr>
          <p:cNvGraphicFramePr>
            <a:graphicFrameLocks/>
          </p:cNvGraphicFramePr>
          <p:nvPr>
            <p:extLst>
              <p:ext uri="{D42A27DB-BD31-4B8C-83A1-F6EECF244321}">
                <p14:modId xmlns:p14="http://schemas.microsoft.com/office/powerpoint/2010/main" val="3689020305"/>
              </p:ext>
            </p:extLst>
          </p:nvPr>
        </p:nvGraphicFramePr>
        <p:xfrm>
          <a:off x="2131408" y="1420938"/>
          <a:ext cx="7144160" cy="454568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52698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6E92E-ED2B-895F-D2B8-C8D5C58935C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84FE383-BD66-6553-D764-A7B492CB80E0}"/>
              </a:ext>
            </a:extLst>
          </p:cNvPr>
          <p:cNvSpPr txBox="1">
            <a:spLocks/>
          </p:cNvSpPr>
          <p:nvPr/>
        </p:nvSpPr>
        <p:spPr>
          <a:xfrm>
            <a:off x="674288" y="262063"/>
            <a:ext cx="10058400" cy="1158875"/>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lnSpc>
                <a:spcPct val="100000"/>
              </a:lnSpc>
            </a:pPr>
            <a:r>
              <a:rPr lang="en-GB" sz="3600" dirty="0">
                <a:solidFill>
                  <a:schemeClr val="tx1"/>
                </a:solidFill>
                <a:latin typeface="Aptos Display" panose="020B0004020202020204" pitchFamily="34" charset="0"/>
              </a:rPr>
              <a:t>Top 5 Countries Ranked by </a:t>
            </a:r>
            <a:r>
              <a:rPr lang="en-GB" sz="3600" b="1" dirty="0">
                <a:solidFill>
                  <a:schemeClr val="tx1"/>
                </a:solidFill>
                <a:latin typeface="Aptos Display" panose="020B0004020202020204" pitchFamily="34" charset="0"/>
              </a:rPr>
              <a:t>Healthy Life Expectancy</a:t>
            </a:r>
          </a:p>
        </p:txBody>
      </p:sp>
      <p:graphicFrame>
        <p:nvGraphicFramePr>
          <p:cNvPr id="5" name="Chart 4">
            <a:extLst>
              <a:ext uri="{FF2B5EF4-FFF2-40B4-BE49-F238E27FC236}">
                <a16:creationId xmlns:a16="http://schemas.microsoft.com/office/drawing/2014/main" id="{482D98E8-E7D5-FB5B-19D2-BD8DE8207FB1}"/>
              </a:ext>
            </a:extLst>
          </p:cNvPr>
          <p:cNvGraphicFramePr>
            <a:graphicFrameLocks/>
          </p:cNvGraphicFramePr>
          <p:nvPr/>
        </p:nvGraphicFramePr>
        <p:xfrm>
          <a:off x="2131408" y="1420938"/>
          <a:ext cx="7144160" cy="454568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Chart 1">
            <a:extLst>
              <a:ext uri="{FF2B5EF4-FFF2-40B4-BE49-F238E27FC236}">
                <a16:creationId xmlns:a16="http://schemas.microsoft.com/office/drawing/2014/main" id="{5D2A3FD7-5A2F-174B-7BAC-5FA9196303AD}"/>
              </a:ext>
            </a:extLst>
          </p:cNvPr>
          <p:cNvGraphicFramePr>
            <a:graphicFrameLocks/>
          </p:cNvGraphicFramePr>
          <p:nvPr>
            <p:extLst>
              <p:ext uri="{D42A27DB-BD31-4B8C-83A1-F6EECF244321}">
                <p14:modId xmlns:p14="http://schemas.microsoft.com/office/powerpoint/2010/main" val="3590724976"/>
              </p:ext>
            </p:extLst>
          </p:nvPr>
        </p:nvGraphicFramePr>
        <p:xfrm>
          <a:off x="2197191" y="1733413"/>
          <a:ext cx="7012593" cy="403914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06733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62BE55C6-2680-D43D-37D1-CE553B13F33A}"/>
              </a:ext>
            </a:extLst>
          </p:cNvPr>
          <p:cNvGraphicFramePr>
            <a:graphicFrameLocks/>
          </p:cNvGraphicFramePr>
          <p:nvPr>
            <p:extLst>
              <p:ext uri="{D42A27DB-BD31-4B8C-83A1-F6EECF244321}">
                <p14:modId xmlns:p14="http://schemas.microsoft.com/office/powerpoint/2010/main" val="274041190"/>
              </p:ext>
            </p:extLst>
          </p:nvPr>
        </p:nvGraphicFramePr>
        <p:xfrm>
          <a:off x="328431" y="1263056"/>
          <a:ext cx="8098522" cy="5131165"/>
        </p:xfrm>
        <a:graphic>
          <a:graphicData uri="http://schemas.openxmlformats.org/drawingml/2006/chart">
            <c:chart xmlns:c="http://schemas.openxmlformats.org/drawingml/2006/chart" xmlns:r="http://schemas.openxmlformats.org/officeDocument/2006/relationships" r:id="rId2"/>
          </a:graphicData>
        </a:graphic>
      </p:graphicFrame>
      <p:sp>
        <p:nvSpPr>
          <p:cNvPr id="5" name="Title 1">
            <a:extLst>
              <a:ext uri="{FF2B5EF4-FFF2-40B4-BE49-F238E27FC236}">
                <a16:creationId xmlns:a16="http://schemas.microsoft.com/office/drawing/2014/main" id="{A05C3812-9B84-49CF-27F2-8F8CC7F90571}"/>
              </a:ext>
            </a:extLst>
          </p:cNvPr>
          <p:cNvSpPr txBox="1">
            <a:spLocks/>
          </p:cNvSpPr>
          <p:nvPr/>
        </p:nvSpPr>
        <p:spPr>
          <a:xfrm>
            <a:off x="871641" y="235749"/>
            <a:ext cx="10058400" cy="1158875"/>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lnSpc>
                <a:spcPct val="100000"/>
              </a:lnSpc>
            </a:pPr>
            <a:r>
              <a:rPr lang="en-GB" sz="3600" dirty="0">
                <a:solidFill>
                  <a:schemeClr val="tx1"/>
                </a:solidFill>
                <a:latin typeface="Aptos Display" panose="020B0004020202020204" pitchFamily="34" charset="0"/>
              </a:rPr>
              <a:t>Relation between the </a:t>
            </a:r>
            <a:r>
              <a:rPr lang="en-GB" sz="3600" b="1" dirty="0">
                <a:solidFill>
                  <a:schemeClr val="tx1"/>
                </a:solidFill>
                <a:latin typeface="Aptos Display" panose="020B0004020202020204" pitchFamily="34" charset="0"/>
              </a:rPr>
              <a:t>perception of corruption </a:t>
            </a:r>
            <a:r>
              <a:rPr lang="en-GB" sz="3600" dirty="0">
                <a:solidFill>
                  <a:schemeClr val="tx1"/>
                </a:solidFill>
                <a:latin typeface="Aptos Display" panose="020B0004020202020204" pitchFamily="34" charset="0"/>
              </a:rPr>
              <a:t>and the happiness score</a:t>
            </a:r>
          </a:p>
        </p:txBody>
      </p:sp>
      <p:sp>
        <p:nvSpPr>
          <p:cNvPr id="7" name="TextBox 6">
            <a:extLst>
              <a:ext uri="{FF2B5EF4-FFF2-40B4-BE49-F238E27FC236}">
                <a16:creationId xmlns:a16="http://schemas.microsoft.com/office/drawing/2014/main" id="{BAAB5C8E-7A10-3BF1-8E2F-5EC0BA84BA77}"/>
              </a:ext>
            </a:extLst>
          </p:cNvPr>
          <p:cNvSpPr txBox="1"/>
          <p:nvPr/>
        </p:nvSpPr>
        <p:spPr>
          <a:xfrm>
            <a:off x="8469105" y="2694093"/>
            <a:ext cx="3394464" cy="1200329"/>
          </a:xfrm>
          <a:prstGeom prst="rect">
            <a:avLst/>
          </a:prstGeom>
          <a:noFill/>
        </p:spPr>
        <p:txBody>
          <a:bodyPr wrap="square" rtlCol="0">
            <a:spAutoFit/>
          </a:bodyPr>
          <a:lstStyle/>
          <a:p>
            <a:pPr marL="285750" indent="-285750">
              <a:buClr>
                <a:schemeClr val="accent1">
                  <a:lumMod val="40000"/>
                  <a:lumOff val="60000"/>
                </a:schemeClr>
              </a:buClr>
              <a:buFont typeface="Wingdings" panose="05000000000000000000" pitchFamily="2" charset="2"/>
              <a:buChar char="Ø"/>
            </a:pPr>
            <a:r>
              <a:rPr lang="en-GB" dirty="0">
                <a:latin typeface="Aptos Display" panose="020B0004020202020204" pitchFamily="34" charset="0"/>
              </a:rPr>
              <a:t>Data shows that a lower perception of corruption directly leads to a higher happiness score</a:t>
            </a:r>
          </a:p>
        </p:txBody>
      </p:sp>
    </p:spTree>
    <p:extLst>
      <p:ext uri="{BB962C8B-B14F-4D97-AF65-F5344CB8AC3E}">
        <p14:creationId xmlns:p14="http://schemas.microsoft.com/office/powerpoint/2010/main" val="666128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4A8FFEA1-1B69-4F42-B552-0CCF72596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5" name="Rectangle 44">
            <a:extLst>
              <a:ext uri="{FF2B5EF4-FFF2-40B4-BE49-F238E27FC236}">
                <a16:creationId xmlns:a16="http://schemas.microsoft.com/office/drawing/2014/main" id="{AA3C9226-5EC8-460B-82D7-72AA994DF9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47" name="Straight Connector 46">
            <a:extLst>
              <a:ext uri="{FF2B5EF4-FFF2-40B4-BE49-F238E27FC236}">
                <a16:creationId xmlns:a16="http://schemas.microsoft.com/office/drawing/2014/main" id="{62A90A9D-33DF-408E-BF4C-F82588935C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9" name="Rectangle 48">
            <a:extLst>
              <a:ext uri="{FF2B5EF4-FFF2-40B4-BE49-F238E27FC236}">
                <a16:creationId xmlns:a16="http://schemas.microsoft.com/office/drawing/2014/main" id="{E6AA15AE-DAFE-4E1E-B05F-F57962FD3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7C95545-9DC4-EBC0-0818-6D58DEA2E4BD}"/>
              </a:ext>
            </a:extLst>
          </p:cNvPr>
          <p:cNvSpPr txBox="1"/>
          <p:nvPr/>
        </p:nvSpPr>
        <p:spPr>
          <a:xfrm>
            <a:off x="8141110" y="1697232"/>
            <a:ext cx="3401961" cy="2627880"/>
          </a:xfrm>
          <a:prstGeom prst="rect">
            <a:avLst/>
          </a:prstGeom>
        </p:spPr>
        <p:txBody>
          <a:bodyPr vert="horz" lIns="91440" tIns="45720" rIns="91440" bIns="45720" rtlCol="0" anchor="b">
            <a:normAutofit/>
          </a:bodyPr>
          <a:lstStyle/>
          <a:p>
            <a:pPr defTabSz="914400">
              <a:lnSpc>
                <a:spcPct val="85000"/>
              </a:lnSpc>
              <a:spcBef>
                <a:spcPct val="0"/>
              </a:spcBef>
              <a:spcAft>
                <a:spcPts val="600"/>
              </a:spcAft>
            </a:pPr>
            <a:r>
              <a:rPr lang="en-US" sz="4400" b="1" spc="-50" dirty="0">
                <a:solidFill>
                  <a:schemeClr val="tx1">
                    <a:lumMod val="85000"/>
                    <a:lumOff val="15000"/>
                  </a:schemeClr>
                </a:solidFill>
                <a:latin typeface="+mj-lt"/>
                <a:ea typeface="+mj-ea"/>
                <a:cs typeface="+mj-cs"/>
              </a:rPr>
              <a:t>Generosity vs </a:t>
            </a:r>
            <a:r>
              <a:rPr lang="en-US" sz="4000" b="1" spc="-50" dirty="0">
                <a:solidFill>
                  <a:schemeClr val="tx1">
                    <a:lumMod val="85000"/>
                    <a:lumOff val="15000"/>
                  </a:schemeClr>
                </a:solidFill>
                <a:latin typeface="+mj-lt"/>
                <a:ea typeface="+mj-ea"/>
                <a:cs typeface="+mj-cs"/>
              </a:rPr>
              <a:t>happiness</a:t>
            </a:r>
            <a:r>
              <a:rPr lang="en-US" sz="4400" b="1" spc="-50" dirty="0">
                <a:solidFill>
                  <a:schemeClr val="tx1">
                    <a:lumMod val="85000"/>
                    <a:lumOff val="15000"/>
                  </a:schemeClr>
                </a:solidFill>
                <a:latin typeface="+mj-lt"/>
                <a:ea typeface="+mj-ea"/>
                <a:cs typeface="+mj-cs"/>
              </a:rPr>
              <a:t> correlation</a:t>
            </a:r>
          </a:p>
        </p:txBody>
      </p:sp>
      <p:cxnSp>
        <p:nvCxnSpPr>
          <p:cNvPr id="51" name="Straight Connector 50">
            <a:extLst>
              <a:ext uri="{FF2B5EF4-FFF2-40B4-BE49-F238E27FC236}">
                <a16:creationId xmlns:a16="http://schemas.microsoft.com/office/drawing/2014/main" id="{D07141D5-A57C-43F5-A655-5BA2D0D2AFF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D9DB1F97-BFF9-46CC-8EB4-BB63B98F13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55" name="Rectangle 54">
            <a:extLst>
              <a:ext uri="{FF2B5EF4-FFF2-40B4-BE49-F238E27FC236}">
                <a16:creationId xmlns:a16="http://schemas.microsoft.com/office/drawing/2014/main" id="{88CAE6E3-39B4-4A16-97BC-9C376B9B7E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graphicFrame>
        <p:nvGraphicFramePr>
          <p:cNvPr id="4" name="Chart 3">
            <a:extLst>
              <a:ext uri="{FF2B5EF4-FFF2-40B4-BE49-F238E27FC236}">
                <a16:creationId xmlns:a16="http://schemas.microsoft.com/office/drawing/2014/main" id="{40300211-4944-ED09-0430-EF77E08A8E30}"/>
              </a:ext>
            </a:extLst>
          </p:cNvPr>
          <p:cNvGraphicFramePr>
            <a:graphicFrameLocks/>
          </p:cNvGraphicFramePr>
          <p:nvPr>
            <p:extLst>
              <p:ext uri="{D42A27DB-BD31-4B8C-83A1-F6EECF244321}">
                <p14:modId xmlns:p14="http://schemas.microsoft.com/office/powerpoint/2010/main" val="1029631139"/>
              </p:ext>
            </p:extLst>
          </p:nvPr>
        </p:nvGraphicFramePr>
        <p:xfrm>
          <a:off x="648929" y="639097"/>
          <a:ext cx="7343848" cy="505415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24841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984AA14-4D67-A80D-6BA8-656E8F7A4269}"/>
              </a:ext>
            </a:extLst>
          </p:cNvPr>
          <p:cNvSpPr txBox="1">
            <a:spLocks/>
          </p:cNvSpPr>
          <p:nvPr/>
        </p:nvSpPr>
        <p:spPr>
          <a:xfrm>
            <a:off x="871641" y="235749"/>
            <a:ext cx="10058400" cy="1158875"/>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lnSpc>
                <a:spcPct val="100000"/>
              </a:lnSpc>
            </a:pPr>
            <a:endParaRPr lang="en-GB" sz="3600" dirty="0">
              <a:solidFill>
                <a:schemeClr val="tx1"/>
              </a:solidFill>
              <a:latin typeface="Aptos Display" panose="020B0004020202020204" pitchFamily="34" charset="0"/>
            </a:endParaRPr>
          </a:p>
        </p:txBody>
      </p:sp>
      <p:sp>
        <p:nvSpPr>
          <p:cNvPr id="4" name="TextBox 3">
            <a:extLst>
              <a:ext uri="{FF2B5EF4-FFF2-40B4-BE49-F238E27FC236}">
                <a16:creationId xmlns:a16="http://schemas.microsoft.com/office/drawing/2014/main" id="{E7CC44BA-982F-4EF1-F558-D11CD34BD719}"/>
              </a:ext>
            </a:extLst>
          </p:cNvPr>
          <p:cNvSpPr txBox="1"/>
          <p:nvPr/>
        </p:nvSpPr>
        <p:spPr>
          <a:xfrm>
            <a:off x="287806" y="1660811"/>
            <a:ext cx="5065381" cy="3139321"/>
          </a:xfrm>
          <a:prstGeom prst="rect">
            <a:avLst/>
          </a:prstGeom>
          <a:noFill/>
        </p:spPr>
        <p:txBody>
          <a:bodyPr wrap="square" rtlCol="0">
            <a:spAutoFit/>
          </a:bodyPr>
          <a:lstStyle/>
          <a:p>
            <a:pPr marL="285750" indent="-285750" algn="just">
              <a:buClr>
                <a:schemeClr val="accent1"/>
              </a:buClr>
              <a:buFont typeface="Wingdings" panose="05000000000000000000" pitchFamily="2" charset="2"/>
              <a:buChar char="Ø"/>
            </a:pPr>
            <a:r>
              <a:rPr lang="en-GB" dirty="0">
                <a:latin typeface="Aptos Display" panose="020B0004020202020204" pitchFamily="34" charset="0"/>
              </a:rPr>
              <a:t>The table highlights only countries that have a difference of 40 positions or more in their rankings.  </a:t>
            </a:r>
          </a:p>
          <a:p>
            <a:pPr marL="285750" indent="-285750" algn="just">
              <a:buClr>
                <a:schemeClr val="accent1"/>
              </a:buClr>
              <a:buFont typeface="Wingdings" panose="05000000000000000000" pitchFamily="2" charset="2"/>
              <a:buChar char="Ø"/>
            </a:pPr>
            <a:endParaRPr lang="en-GB" dirty="0">
              <a:latin typeface="Aptos Display" panose="020B0004020202020204" pitchFamily="34" charset="0"/>
            </a:endParaRPr>
          </a:p>
          <a:p>
            <a:pPr marL="285750" indent="-285750" algn="just">
              <a:buClr>
                <a:schemeClr val="accent1"/>
              </a:buClr>
              <a:buFont typeface="Wingdings" panose="05000000000000000000" pitchFamily="2" charset="2"/>
              <a:buChar char="Ø"/>
            </a:pPr>
            <a:r>
              <a:rPr lang="en-GB" dirty="0">
                <a:latin typeface="Aptos Display" panose="020B0004020202020204" pitchFamily="34" charset="0"/>
              </a:rPr>
              <a:t>For differences of 40 positions or fewer, the correlation between the two rankings tends to be typical</a:t>
            </a:r>
          </a:p>
          <a:p>
            <a:pPr marL="285750" indent="-285750" algn="just">
              <a:buClr>
                <a:schemeClr val="accent1"/>
              </a:buClr>
              <a:buFont typeface="Wingdings" panose="05000000000000000000" pitchFamily="2" charset="2"/>
              <a:buChar char="Ø"/>
            </a:pPr>
            <a:endParaRPr lang="en-GB" dirty="0">
              <a:latin typeface="Aptos Display" panose="020B0004020202020204" pitchFamily="34" charset="0"/>
            </a:endParaRPr>
          </a:p>
          <a:p>
            <a:pPr marL="285750" indent="-285750" algn="just">
              <a:buClr>
                <a:schemeClr val="accent1"/>
              </a:buClr>
              <a:buFont typeface="Wingdings" panose="05000000000000000000" pitchFamily="2" charset="2"/>
              <a:buChar char="Ø"/>
            </a:pPr>
            <a:r>
              <a:rPr lang="en-GB" dirty="0">
                <a:latin typeface="Aptos Display" panose="020B0004020202020204" pitchFamily="34" charset="0"/>
              </a:rPr>
              <a:t> Additionally, this table illustrates that sometimes a high GDP per capita does not always correlate with a high happiness score</a:t>
            </a:r>
          </a:p>
        </p:txBody>
      </p:sp>
      <p:sp>
        <p:nvSpPr>
          <p:cNvPr id="5" name="TextBox 4">
            <a:extLst>
              <a:ext uri="{FF2B5EF4-FFF2-40B4-BE49-F238E27FC236}">
                <a16:creationId xmlns:a16="http://schemas.microsoft.com/office/drawing/2014/main" id="{32084A22-0909-D161-A823-B808D9D1B76B}"/>
              </a:ext>
            </a:extLst>
          </p:cNvPr>
          <p:cNvSpPr txBox="1"/>
          <p:nvPr/>
        </p:nvSpPr>
        <p:spPr>
          <a:xfrm>
            <a:off x="394705" y="235749"/>
            <a:ext cx="11571435" cy="523220"/>
          </a:xfrm>
          <a:prstGeom prst="rect">
            <a:avLst/>
          </a:prstGeom>
          <a:noFill/>
        </p:spPr>
        <p:txBody>
          <a:bodyPr wrap="square" rtlCol="0">
            <a:spAutoFit/>
          </a:bodyPr>
          <a:lstStyle/>
          <a:p>
            <a:pPr algn="ctr"/>
            <a:r>
              <a:rPr lang="en-GB" sz="2800" dirty="0">
                <a:latin typeface="Aptos Display" panose="020B0004020202020204" pitchFamily="34" charset="0"/>
              </a:rPr>
              <a:t>Countries with the largest </a:t>
            </a:r>
            <a:r>
              <a:rPr lang="en-GB" sz="2800" b="1" dirty="0">
                <a:latin typeface="Aptos Display" panose="020B0004020202020204" pitchFamily="34" charset="0"/>
              </a:rPr>
              <a:t>difference between GDP rank and happiness rank</a:t>
            </a:r>
          </a:p>
        </p:txBody>
      </p:sp>
      <p:graphicFrame>
        <p:nvGraphicFramePr>
          <p:cNvPr id="6" name="Table 5">
            <a:extLst>
              <a:ext uri="{FF2B5EF4-FFF2-40B4-BE49-F238E27FC236}">
                <a16:creationId xmlns:a16="http://schemas.microsoft.com/office/drawing/2014/main" id="{DE9F7CCE-EA09-75FE-7322-F5EC2EFB922F}"/>
              </a:ext>
            </a:extLst>
          </p:cNvPr>
          <p:cNvGraphicFramePr>
            <a:graphicFrameLocks noGrp="1"/>
          </p:cNvGraphicFramePr>
          <p:nvPr>
            <p:extLst>
              <p:ext uri="{D42A27DB-BD31-4B8C-83A1-F6EECF244321}">
                <p14:modId xmlns:p14="http://schemas.microsoft.com/office/powerpoint/2010/main" val="1538830017"/>
              </p:ext>
            </p:extLst>
          </p:nvPr>
        </p:nvGraphicFramePr>
        <p:xfrm>
          <a:off x="5657441" y="914399"/>
          <a:ext cx="5882749" cy="5162219"/>
        </p:xfrm>
        <a:graphic>
          <a:graphicData uri="http://schemas.openxmlformats.org/drawingml/2006/table">
            <a:tbl>
              <a:tblPr>
                <a:tableStyleId>{69CF1AB2-1976-4502-BF36-3FF5EA218861}</a:tableStyleId>
              </a:tblPr>
              <a:tblGrid>
                <a:gridCol w="1845722">
                  <a:extLst>
                    <a:ext uri="{9D8B030D-6E8A-4147-A177-3AD203B41FA5}">
                      <a16:colId xmlns:a16="http://schemas.microsoft.com/office/drawing/2014/main" val="3712019310"/>
                    </a:ext>
                  </a:extLst>
                </a:gridCol>
                <a:gridCol w="1146704">
                  <a:extLst>
                    <a:ext uri="{9D8B030D-6E8A-4147-A177-3AD203B41FA5}">
                      <a16:colId xmlns:a16="http://schemas.microsoft.com/office/drawing/2014/main" val="3175798824"/>
                    </a:ext>
                  </a:extLst>
                </a:gridCol>
                <a:gridCol w="1484432">
                  <a:extLst>
                    <a:ext uri="{9D8B030D-6E8A-4147-A177-3AD203B41FA5}">
                      <a16:colId xmlns:a16="http://schemas.microsoft.com/office/drawing/2014/main" val="3091650984"/>
                    </a:ext>
                  </a:extLst>
                </a:gridCol>
                <a:gridCol w="1405891">
                  <a:extLst>
                    <a:ext uri="{9D8B030D-6E8A-4147-A177-3AD203B41FA5}">
                      <a16:colId xmlns:a16="http://schemas.microsoft.com/office/drawing/2014/main" val="1727924916"/>
                    </a:ext>
                  </a:extLst>
                </a:gridCol>
              </a:tblGrid>
              <a:tr h="223285">
                <a:tc>
                  <a:txBody>
                    <a:bodyPr/>
                    <a:lstStyle/>
                    <a:p>
                      <a:pPr algn="ctr" fontAlgn="b">
                        <a:buNone/>
                      </a:pPr>
                      <a:r>
                        <a:rPr lang="en-GB" sz="1000" b="1" u="none" strike="noStrike">
                          <a:effectLst/>
                          <a:latin typeface="Aptos Display" panose="020B0004020202020204" pitchFamily="34" charset="0"/>
                        </a:rPr>
                        <a:t>Country's Name</a:t>
                      </a:r>
                      <a:endParaRPr lang="en-GB" sz="1000" b="1"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a:effectLst/>
                          <a:latin typeface="Aptos Display" panose="020B0004020202020204" pitchFamily="34" charset="0"/>
                        </a:rPr>
                        <a:t>gdp_ranking</a:t>
                      </a:r>
                      <a:endParaRPr lang="en-GB" sz="1000" b="1"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a:effectLst/>
                          <a:latin typeface="Aptos Display" panose="020B0004020202020204" pitchFamily="34" charset="0"/>
                        </a:rPr>
                        <a:t>happiness_ranking</a:t>
                      </a:r>
                      <a:endParaRPr lang="en-GB" sz="1000" b="1"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dirty="0">
                          <a:effectLst/>
                          <a:latin typeface="Aptos Display" panose="020B0004020202020204" pitchFamily="34" charset="0"/>
                        </a:rPr>
                        <a:t>difference</a:t>
                      </a:r>
                      <a:endParaRPr lang="en-GB" sz="1000" b="1" i="0" u="none" strike="noStrike" dirty="0">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3424041808"/>
                  </a:ext>
                </a:extLst>
              </a:tr>
              <a:tr h="224497">
                <a:tc>
                  <a:txBody>
                    <a:bodyPr/>
                    <a:lstStyle/>
                    <a:p>
                      <a:pPr algn="ctr" fontAlgn="b">
                        <a:buNone/>
                      </a:pPr>
                      <a:r>
                        <a:rPr lang="en-GB" sz="1000" b="1" u="none" strike="noStrike" dirty="0">
                          <a:effectLst/>
                          <a:latin typeface="Aptos Display" panose="020B0004020202020204" pitchFamily="34" charset="0"/>
                        </a:rPr>
                        <a:t>Botswana</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dirty="0">
                          <a:effectLst/>
                          <a:latin typeface="Aptos Display" panose="020B0004020202020204" pitchFamily="34" charset="0"/>
                        </a:rPr>
                        <a:t>65</a:t>
                      </a:r>
                      <a:endParaRPr lang="en-GB" sz="1000" b="0"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148</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dirty="0">
                          <a:effectLst/>
                          <a:latin typeface="Aptos Display" panose="020B0004020202020204" pitchFamily="34" charset="0"/>
                        </a:rPr>
                        <a:t>83</a:t>
                      </a:r>
                      <a:endParaRPr lang="en-GB" sz="1000" b="1" i="0" u="none" strike="noStrike" dirty="0">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426938754"/>
                  </a:ext>
                </a:extLst>
              </a:tr>
              <a:tr h="224497">
                <a:tc>
                  <a:txBody>
                    <a:bodyPr/>
                    <a:lstStyle/>
                    <a:p>
                      <a:pPr algn="ctr" fontAlgn="b">
                        <a:buNone/>
                      </a:pPr>
                      <a:r>
                        <a:rPr lang="en-GB" sz="1000" b="1" u="none" strike="noStrike" dirty="0">
                          <a:effectLst/>
                          <a:latin typeface="Aptos Display" panose="020B0004020202020204" pitchFamily="34" charset="0"/>
                        </a:rPr>
                        <a:t>Guatemala</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dirty="0">
                          <a:effectLst/>
                          <a:latin typeface="Aptos Display" panose="020B0004020202020204" pitchFamily="34" charset="0"/>
                        </a:rPr>
                        <a:t>100</a:t>
                      </a:r>
                      <a:endParaRPr lang="en-GB" sz="1000" b="0"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dirty="0">
                          <a:effectLst/>
                          <a:latin typeface="Aptos Display" panose="020B0004020202020204" pitchFamily="34" charset="0"/>
                        </a:rPr>
                        <a:t>26</a:t>
                      </a:r>
                      <a:endParaRPr lang="en-GB" sz="1000" b="0"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dirty="0">
                          <a:effectLst/>
                          <a:latin typeface="Aptos Display" panose="020B0004020202020204" pitchFamily="34" charset="0"/>
                        </a:rPr>
                        <a:t>74</a:t>
                      </a:r>
                      <a:endParaRPr lang="en-GB" sz="1000" b="1" i="0" u="none" strike="noStrike" dirty="0">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1601623381"/>
                  </a:ext>
                </a:extLst>
              </a:tr>
              <a:tr h="224497">
                <a:tc>
                  <a:txBody>
                    <a:bodyPr/>
                    <a:lstStyle/>
                    <a:p>
                      <a:pPr algn="ctr" fontAlgn="b">
                        <a:buNone/>
                      </a:pPr>
                      <a:r>
                        <a:rPr lang="en-GB" sz="1000" b="1" u="none" strike="noStrike" dirty="0">
                          <a:effectLst/>
                          <a:latin typeface="Aptos Display" panose="020B0004020202020204" pitchFamily="34" charset="0"/>
                        </a:rPr>
                        <a:t>El Salvador</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dirty="0">
                          <a:effectLst/>
                          <a:latin typeface="Aptos Display" panose="020B0004020202020204" pitchFamily="34" charset="0"/>
                        </a:rPr>
                        <a:t>102</a:t>
                      </a:r>
                      <a:endParaRPr lang="en-GB" sz="1000" b="0"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35</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dirty="0">
                          <a:effectLst/>
                          <a:latin typeface="Aptos Display" panose="020B0004020202020204" pitchFamily="34" charset="0"/>
                        </a:rPr>
                        <a:t>67</a:t>
                      </a:r>
                      <a:endParaRPr lang="en-GB" sz="1000" b="1" i="0" u="none" strike="noStrike" dirty="0">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2101882984"/>
                  </a:ext>
                </a:extLst>
              </a:tr>
              <a:tr h="224497">
                <a:tc>
                  <a:txBody>
                    <a:bodyPr/>
                    <a:lstStyle/>
                    <a:p>
                      <a:pPr algn="ctr" fontAlgn="b">
                        <a:buNone/>
                      </a:pPr>
                      <a:r>
                        <a:rPr lang="en-GB" sz="1000" b="1" u="none" strike="noStrike" dirty="0">
                          <a:effectLst/>
                          <a:highlight>
                            <a:srgbClr val="FFFF00"/>
                          </a:highlight>
                          <a:latin typeface="Aptos Display" panose="020B0004020202020204" pitchFamily="34" charset="0"/>
                        </a:rPr>
                        <a:t>Hong Kong</a:t>
                      </a:r>
                      <a:endParaRPr lang="en-GB" sz="1000" b="1" i="0" u="none" strike="noStrike" dirty="0">
                        <a:solidFill>
                          <a:srgbClr val="000000"/>
                        </a:solidFill>
                        <a:effectLst/>
                        <a:highlight>
                          <a:srgbClr val="FFFF00"/>
                        </a:highlight>
                        <a:latin typeface="Aptos Display" panose="020B0004020202020204" pitchFamily="34" charset="0"/>
                      </a:endParaRPr>
                    </a:p>
                  </a:txBody>
                  <a:tcPr marL="6031" marR="6031" marT="6031" marB="0" anchor="b"/>
                </a:tc>
                <a:tc>
                  <a:txBody>
                    <a:bodyPr/>
                    <a:lstStyle/>
                    <a:p>
                      <a:pPr algn="ctr" fontAlgn="b">
                        <a:buNone/>
                      </a:pPr>
                      <a:r>
                        <a:rPr lang="en-GB" sz="1000" b="0" u="none" strike="noStrike" dirty="0">
                          <a:effectLst/>
                          <a:highlight>
                            <a:srgbClr val="FFFF00"/>
                          </a:highlight>
                          <a:latin typeface="Aptos Display" panose="020B0004020202020204" pitchFamily="34" charset="0"/>
                        </a:rPr>
                        <a:t>9</a:t>
                      </a:r>
                      <a:endParaRPr lang="en-GB" sz="1000" b="0" i="0" u="none" strike="noStrike" dirty="0">
                        <a:solidFill>
                          <a:srgbClr val="000000"/>
                        </a:solidFill>
                        <a:effectLst/>
                        <a:highlight>
                          <a:srgbClr val="FFFF00"/>
                        </a:highligh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highlight>
                            <a:srgbClr val="FFFF00"/>
                          </a:highlight>
                          <a:latin typeface="Aptos Display" panose="020B0004020202020204" pitchFamily="34" charset="0"/>
                        </a:rPr>
                        <a:t>75</a:t>
                      </a:r>
                      <a:endParaRPr lang="en-GB" sz="1000" b="0" i="0" u="none" strike="noStrike">
                        <a:solidFill>
                          <a:srgbClr val="000000"/>
                        </a:solidFill>
                        <a:effectLst/>
                        <a:highlight>
                          <a:srgbClr val="FFFF00"/>
                        </a:highlight>
                        <a:latin typeface="Aptos Display" panose="020B0004020202020204" pitchFamily="34" charset="0"/>
                      </a:endParaRPr>
                    </a:p>
                  </a:txBody>
                  <a:tcPr marL="6031" marR="6031" marT="6031" marB="0" anchor="b"/>
                </a:tc>
                <a:tc>
                  <a:txBody>
                    <a:bodyPr/>
                    <a:lstStyle/>
                    <a:p>
                      <a:pPr algn="ctr" fontAlgn="b">
                        <a:buNone/>
                      </a:pPr>
                      <a:r>
                        <a:rPr lang="en-GB" sz="1000" b="1" u="none" strike="noStrike" dirty="0">
                          <a:effectLst/>
                          <a:highlight>
                            <a:srgbClr val="FFFF00"/>
                          </a:highlight>
                          <a:latin typeface="Aptos Display" panose="020B0004020202020204" pitchFamily="34" charset="0"/>
                        </a:rPr>
                        <a:t>66</a:t>
                      </a:r>
                      <a:endParaRPr lang="en-GB" sz="1000" b="1" i="0" u="none" strike="noStrike" dirty="0">
                        <a:solidFill>
                          <a:srgbClr val="000000"/>
                        </a:solidFill>
                        <a:effectLst/>
                        <a:highlight>
                          <a:srgbClr val="FFFF00"/>
                        </a:highlight>
                        <a:latin typeface="Aptos Display" panose="020B0004020202020204" pitchFamily="34" charset="0"/>
                      </a:endParaRPr>
                    </a:p>
                  </a:txBody>
                  <a:tcPr marL="6031" marR="6031" marT="6031" marB="0" anchor="b"/>
                </a:tc>
                <a:extLst>
                  <a:ext uri="{0D108BD9-81ED-4DB2-BD59-A6C34878D82A}">
                    <a16:rowId xmlns:a16="http://schemas.microsoft.com/office/drawing/2014/main" val="4131903038"/>
                  </a:ext>
                </a:extLst>
              </a:tr>
              <a:tr h="224497">
                <a:tc>
                  <a:txBody>
                    <a:bodyPr/>
                    <a:lstStyle/>
                    <a:p>
                      <a:pPr algn="ctr" fontAlgn="b">
                        <a:buNone/>
                      </a:pPr>
                      <a:r>
                        <a:rPr lang="en-GB" sz="1000" b="1" u="none" strike="noStrike" dirty="0">
                          <a:effectLst/>
                          <a:latin typeface="Aptos Display" panose="020B0004020202020204" pitchFamily="34" charset="0"/>
                        </a:rPr>
                        <a:t>Uzbekistan</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106</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41</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dirty="0">
                          <a:effectLst/>
                          <a:latin typeface="Aptos Display" panose="020B0004020202020204" pitchFamily="34" charset="0"/>
                        </a:rPr>
                        <a:t>65</a:t>
                      </a:r>
                      <a:endParaRPr lang="en-GB" sz="1000" b="1" i="0" u="none" strike="noStrike" dirty="0">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3225187658"/>
                  </a:ext>
                </a:extLst>
              </a:tr>
              <a:tr h="224497">
                <a:tc>
                  <a:txBody>
                    <a:bodyPr/>
                    <a:lstStyle/>
                    <a:p>
                      <a:pPr algn="ctr" fontAlgn="b">
                        <a:buNone/>
                      </a:pPr>
                      <a:r>
                        <a:rPr lang="en-GB" sz="1000" b="1" u="none" strike="noStrike" dirty="0">
                          <a:effectLst/>
                          <a:latin typeface="Aptos Display" panose="020B0004020202020204" pitchFamily="34" charset="0"/>
                        </a:rPr>
                        <a:t>Nicaragua</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110</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45</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a:effectLst/>
                          <a:latin typeface="Aptos Display" panose="020B0004020202020204" pitchFamily="34" charset="0"/>
                        </a:rPr>
                        <a:t>65</a:t>
                      </a:r>
                      <a:endParaRPr lang="en-GB" sz="1000" b="1" i="0" u="none" strike="noStrike">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1208579341"/>
                  </a:ext>
                </a:extLst>
              </a:tr>
              <a:tr h="224497">
                <a:tc>
                  <a:txBody>
                    <a:bodyPr/>
                    <a:lstStyle/>
                    <a:p>
                      <a:pPr algn="ctr" fontAlgn="b">
                        <a:buNone/>
                      </a:pPr>
                      <a:r>
                        <a:rPr lang="en-GB" sz="1000" b="1" u="none" strike="noStrike" dirty="0">
                          <a:effectLst/>
                          <a:latin typeface="Aptos Display" panose="020B0004020202020204" pitchFamily="34" charset="0"/>
                        </a:rPr>
                        <a:t>Iraq</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dirty="0">
                          <a:effectLst/>
                          <a:latin typeface="Aptos Display" panose="020B0004020202020204" pitchFamily="34" charset="0"/>
                        </a:rPr>
                        <a:t>65</a:t>
                      </a:r>
                      <a:endParaRPr lang="en-GB" sz="1000" b="0"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126</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dirty="0">
                          <a:effectLst/>
                          <a:latin typeface="Aptos Display" panose="020B0004020202020204" pitchFamily="34" charset="0"/>
                        </a:rPr>
                        <a:t>61</a:t>
                      </a:r>
                      <a:endParaRPr lang="en-GB" sz="1000" b="1" i="0" u="none" strike="noStrike" dirty="0">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2971411668"/>
                  </a:ext>
                </a:extLst>
              </a:tr>
              <a:tr h="224497">
                <a:tc>
                  <a:txBody>
                    <a:bodyPr/>
                    <a:lstStyle/>
                    <a:p>
                      <a:pPr algn="ctr" fontAlgn="b">
                        <a:buNone/>
                      </a:pPr>
                      <a:r>
                        <a:rPr lang="en-GB" sz="1000" b="1" u="none" strike="noStrike" dirty="0">
                          <a:effectLst/>
                          <a:latin typeface="Aptos Display" panose="020B0004020202020204" pitchFamily="34" charset="0"/>
                        </a:rPr>
                        <a:t>Iran</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56</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117</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dirty="0">
                          <a:effectLst/>
                          <a:latin typeface="Aptos Display" panose="020B0004020202020204" pitchFamily="34" charset="0"/>
                        </a:rPr>
                        <a:t>61</a:t>
                      </a:r>
                      <a:endParaRPr lang="en-GB" sz="1000" b="1" i="0" u="none" strike="noStrike" dirty="0">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4228693734"/>
                  </a:ext>
                </a:extLst>
              </a:tr>
              <a:tr h="224497">
                <a:tc>
                  <a:txBody>
                    <a:bodyPr/>
                    <a:lstStyle/>
                    <a:p>
                      <a:pPr algn="ctr" fontAlgn="b">
                        <a:buNone/>
                      </a:pPr>
                      <a:r>
                        <a:rPr lang="en-GB" sz="1000" b="1" u="none" strike="noStrike">
                          <a:effectLst/>
                          <a:highlight>
                            <a:srgbClr val="FFFF00"/>
                          </a:highlight>
                          <a:latin typeface="Aptos Display" panose="020B0004020202020204" pitchFamily="34" charset="0"/>
                        </a:rPr>
                        <a:t>Costa Rica</a:t>
                      </a:r>
                      <a:endParaRPr lang="en-GB" sz="1000" b="1" i="0" u="none" strike="noStrike">
                        <a:solidFill>
                          <a:srgbClr val="000000"/>
                        </a:solidFill>
                        <a:effectLst/>
                        <a:highlight>
                          <a:srgbClr val="FFFF00"/>
                        </a:highligh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highlight>
                            <a:srgbClr val="FFFF00"/>
                          </a:highlight>
                          <a:latin typeface="Aptos Display" panose="020B0004020202020204" pitchFamily="34" charset="0"/>
                        </a:rPr>
                        <a:t>69</a:t>
                      </a:r>
                      <a:endParaRPr lang="en-GB" sz="1000" b="0" i="0" u="none" strike="noStrike">
                        <a:solidFill>
                          <a:srgbClr val="000000"/>
                        </a:solidFill>
                        <a:effectLst/>
                        <a:highlight>
                          <a:srgbClr val="FFFF00"/>
                        </a:highligh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highlight>
                            <a:srgbClr val="FFFF00"/>
                          </a:highlight>
                          <a:latin typeface="Aptos Display" panose="020B0004020202020204" pitchFamily="34" charset="0"/>
                        </a:rPr>
                        <a:t>12</a:t>
                      </a:r>
                      <a:endParaRPr lang="en-GB" sz="1000" b="0" i="0" u="none" strike="noStrike">
                        <a:solidFill>
                          <a:srgbClr val="000000"/>
                        </a:solidFill>
                        <a:effectLst/>
                        <a:highlight>
                          <a:srgbClr val="FFFF00"/>
                        </a:highlight>
                        <a:latin typeface="Aptos Display" panose="020B0004020202020204" pitchFamily="34" charset="0"/>
                      </a:endParaRPr>
                    </a:p>
                  </a:txBody>
                  <a:tcPr marL="6031" marR="6031" marT="6031" marB="0" anchor="b"/>
                </a:tc>
                <a:tc>
                  <a:txBody>
                    <a:bodyPr/>
                    <a:lstStyle/>
                    <a:p>
                      <a:pPr algn="ctr" fontAlgn="b">
                        <a:buNone/>
                      </a:pPr>
                      <a:r>
                        <a:rPr lang="en-GB" sz="1000" b="1" u="none" strike="noStrike" dirty="0">
                          <a:effectLst/>
                          <a:highlight>
                            <a:srgbClr val="FFFF00"/>
                          </a:highlight>
                          <a:latin typeface="Aptos Display" panose="020B0004020202020204" pitchFamily="34" charset="0"/>
                        </a:rPr>
                        <a:t>57</a:t>
                      </a:r>
                      <a:endParaRPr lang="en-GB" sz="1000" b="1" i="0" u="none" strike="noStrike" dirty="0">
                        <a:solidFill>
                          <a:srgbClr val="000000"/>
                        </a:solidFill>
                        <a:effectLst/>
                        <a:highlight>
                          <a:srgbClr val="FFFF00"/>
                        </a:highlight>
                        <a:latin typeface="Aptos Display" panose="020B0004020202020204" pitchFamily="34" charset="0"/>
                      </a:endParaRPr>
                    </a:p>
                  </a:txBody>
                  <a:tcPr marL="6031" marR="6031" marT="6031" marB="0" anchor="b"/>
                </a:tc>
                <a:extLst>
                  <a:ext uri="{0D108BD9-81ED-4DB2-BD59-A6C34878D82A}">
                    <a16:rowId xmlns:a16="http://schemas.microsoft.com/office/drawing/2014/main" val="1571804197"/>
                  </a:ext>
                </a:extLst>
              </a:tr>
              <a:tr h="224497">
                <a:tc>
                  <a:txBody>
                    <a:bodyPr/>
                    <a:lstStyle/>
                    <a:p>
                      <a:pPr algn="ctr" fontAlgn="b">
                        <a:buNone/>
                      </a:pPr>
                      <a:r>
                        <a:rPr lang="en-GB" sz="1000" b="1" u="none" strike="noStrike" dirty="0">
                          <a:effectLst/>
                          <a:latin typeface="Aptos Display" panose="020B0004020202020204" pitchFamily="34" charset="0"/>
                        </a:rPr>
                        <a:t>Honduras</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dirty="0">
                          <a:effectLst/>
                          <a:latin typeface="Aptos Display" panose="020B0004020202020204" pitchFamily="34" charset="0"/>
                        </a:rPr>
                        <a:t>115</a:t>
                      </a:r>
                      <a:endParaRPr lang="en-GB" sz="1000" b="0"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59</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dirty="0">
                          <a:effectLst/>
                          <a:latin typeface="Aptos Display" panose="020B0004020202020204" pitchFamily="34" charset="0"/>
                        </a:rPr>
                        <a:t>56</a:t>
                      </a:r>
                      <a:endParaRPr lang="en-GB" sz="1000" b="1" i="0" u="none" strike="noStrike" dirty="0">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1031203305"/>
                  </a:ext>
                </a:extLst>
              </a:tr>
              <a:tr h="224497">
                <a:tc>
                  <a:txBody>
                    <a:bodyPr/>
                    <a:lstStyle/>
                    <a:p>
                      <a:pPr algn="ctr" fontAlgn="b">
                        <a:buNone/>
                      </a:pPr>
                      <a:r>
                        <a:rPr lang="en-GB" sz="1000" b="1" u="none" strike="noStrike">
                          <a:effectLst/>
                          <a:latin typeface="Aptos Display" panose="020B0004020202020204" pitchFamily="34" charset="0"/>
                        </a:rPr>
                        <a:t>Tajikistan</a:t>
                      </a:r>
                      <a:endParaRPr lang="en-GB" sz="1000" b="1"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126</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74</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a:effectLst/>
                          <a:latin typeface="Aptos Display" panose="020B0004020202020204" pitchFamily="34" charset="0"/>
                        </a:rPr>
                        <a:t>52</a:t>
                      </a:r>
                      <a:endParaRPr lang="en-GB" sz="1000" b="1" i="0" u="none" strike="noStrike">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1823278660"/>
                  </a:ext>
                </a:extLst>
              </a:tr>
              <a:tr h="224497">
                <a:tc>
                  <a:txBody>
                    <a:bodyPr/>
                    <a:lstStyle/>
                    <a:p>
                      <a:pPr algn="ctr" fontAlgn="b">
                        <a:buNone/>
                      </a:pPr>
                      <a:r>
                        <a:rPr lang="en-GB" sz="1000" b="1" u="none" strike="noStrike" dirty="0">
                          <a:effectLst/>
                          <a:latin typeface="Aptos Display" panose="020B0004020202020204" pitchFamily="34" charset="0"/>
                        </a:rPr>
                        <a:t>Egypt</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dirty="0">
                          <a:effectLst/>
                          <a:latin typeface="Aptos Display" panose="020B0004020202020204" pitchFamily="34" charset="0"/>
                        </a:rPr>
                        <a:t>87</a:t>
                      </a:r>
                      <a:endParaRPr lang="en-GB" sz="1000" b="0"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137</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dirty="0">
                          <a:effectLst/>
                          <a:latin typeface="Aptos Display" panose="020B0004020202020204" pitchFamily="34" charset="0"/>
                        </a:rPr>
                        <a:t>50</a:t>
                      </a:r>
                      <a:endParaRPr lang="en-GB" sz="1000" b="1" i="0" u="none" strike="noStrike" dirty="0">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2773153304"/>
                  </a:ext>
                </a:extLst>
              </a:tr>
              <a:tr h="224497">
                <a:tc>
                  <a:txBody>
                    <a:bodyPr/>
                    <a:lstStyle/>
                    <a:p>
                      <a:pPr algn="ctr" fontAlgn="b">
                        <a:buNone/>
                      </a:pPr>
                      <a:r>
                        <a:rPr lang="en-GB" sz="1000" b="1" u="none" strike="noStrike" dirty="0">
                          <a:effectLst/>
                          <a:latin typeface="Aptos Display" panose="020B0004020202020204" pitchFamily="34" charset="0"/>
                        </a:rPr>
                        <a:t>Sri Lanka</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dirty="0">
                          <a:effectLst/>
                          <a:latin typeface="Aptos Display" panose="020B0004020202020204" pitchFamily="34" charset="0"/>
                        </a:rPr>
                        <a:t>81</a:t>
                      </a:r>
                      <a:endParaRPr lang="en-GB" sz="1000" b="0"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129</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a:effectLst/>
                          <a:latin typeface="Aptos Display" panose="020B0004020202020204" pitchFamily="34" charset="0"/>
                        </a:rPr>
                        <a:t>48</a:t>
                      </a:r>
                      <a:endParaRPr lang="en-GB" sz="1000" b="1" i="0" u="none" strike="noStrike">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2455858392"/>
                  </a:ext>
                </a:extLst>
              </a:tr>
              <a:tr h="224497">
                <a:tc>
                  <a:txBody>
                    <a:bodyPr/>
                    <a:lstStyle/>
                    <a:p>
                      <a:pPr algn="ctr" fontAlgn="b">
                        <a:buNone/>
                      </a:pPr>
                      <a:r>
                        <a:rPr lang="en-GB" sz="1000" b="1" u="none" strike="noStrike" dirty="0">
                          <a:effectLst/>
                          <a:highlight>
                            <a:srgbClr val="FFFF00"/>
                          </a:highlight>
                          <a:latin typeface="Aptos Display" panose="020B0004020202020204" pitchFamily="34" charset="0"/>
                        </a:rPr>
                        <a:t>Kuwait</a:t>
                      </a:r>
                      <a:endParaRPr lang="en-GB" sz="1000" b="1" i="0" u="none" strike="noStrike" dirty="0">
                        <a:solidFill>
                          <a:srgbClr val="000000"/>
                        </a:solidFill>
                        <a:effectLst/>
                        <a:highlight>
                          <a:srgbClr val="FFFF00"/>
                        </a:highlight>
                        <a:latin typeface="Aptos Display" panose="020B0004020202020204" pitchFamily="34" charset="0"/>
                      </a:endParaRPr>
                    </a:p>
                  </a:txBody>
                  <a:tcPr marL="6031" marR="6031" marT="6031" marB="0" anchor="b"/>
                </a:tc>
                <a:tc>
                  <a:txBody>
                    <a:bodyPr/>
                    <a:lstStyle/>
                    <a:p>
                      <a:pPr algn="ctr" fontAlgn="b">
                        <a:buNone/>
                      </a:pPr>
                      <a:r>
                        <a:rPr lang="en-GB" sz="1000" b="0" u="none" strike="noStrike" dirty="0">
                          <a:effectLst/>
                          <a:highlight>
                            <a:srgbClr val="FFFF00"/>
                          </a:highlight>
                          <a:latin typeface="Aptos Display" panose="020B0004020202020204" pitchFamily="34" charset="0"/>
                        </a:rPr>
                        <a:t>4</a:t>
                      </a:r>
                      <a:endParaRPr lang="en-GB" sz="1000" b="0" i="0" u="none" strike="noStrike" dirty="0">
                        <a:solidFill>
                          <a:srgbClr val="000000"/>
                        </a:solidFill>
                        <a:effectLst/>
                        <a:highlight>
                          <a:srgbClr val="FFFF00"/>
                        </a:highligh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highlight>
                            <a:srgbClr val="FFFF00"/>
                          </a:highlight>
                          <a:latin typeface="Aptos Display" panose="020B0004020202020204" pitchFamily="34" charset="0"/>
                        </a:rPr>
                        <a:t>51</a:t>
                      </a:r>
                      <a:endParaRPr lang="en-GB" sz="1000" b="0" i="0" u="none" strike="noStrike">
                        <a:solidFill>
                          <a:srgbClr val="000000"/>
                        </a:solidFill>
                        <a:effectLst/>
                        <a:highlight>
                          <a:srgbClr val="FFFF00"/>
                        </a:highlight>
                        <a:latin typeface="Aptos Display" panose="020B0004020202020204" pitchFamily="34" charset="0"/>
                      </a:endParaRPr>
                    </a:p>
                  </a:txBody>
                  <a:tcPr marL="6031" marR="6031" marT="6031" marB="0" anchor="b"/>
                </a:tc>
                <a:tc>
                  <a:txBody>
                    <a:bodyPr/>
                    <a:lstStyle/>
                    <a:p>
                      <a:pPr algn="ctr" fontAlgn="b">
                        <a:buNone/>
                      </a:pPr>
                      <a:r>
                        <a:rPr lang="en-GB" sz="1000" b="1" u="none" strike="noStrike" dirty="0">
                          <a:effectLst/>
                          <a:highlight>
                            <a:srgbClr val="FFFF00"/>
                          </a:highlight>
                          <a:latin typeface="Aptos Display" panose="020B0004020202020204" pitchFamily="34" charset="0"/>
                        </a:rPr>
                        <a:t>47</a:t>
                      </a:r>
                      <a:endParaRPr lang="en-GB" sz="1000" b="1" i="0" u="none" strike="noStrike" dirty="0">
                        <a:solidFill>
                          <a:srgbClr val="000000"/>
                        </a:solidFill>
                        <a:effectLst/>
                        <a:highlight>
                          <a:srgbClr val="FFFF00"/>
                        </a:highlight>
                        <a:latin typeface="Aptos Display" panose="020B0004020202020204" pitchFamily="34" charset="0"/>
                      </a:endParaRPr>
                    </a:p>
                  </a:txBody>
                  <a:tcPr marL="6031" marR="6031" marT="6031" marB="0" anchor="b"/>
                </a:tc>
                <a:extLst>
                  <a:ext uri="{0D108BD9-81ED-4DB2-BD59-A6C34878D82A}">
                    <a16:rowId xmlns:a16="http://schemas.microsoft.com/office/drawing/2014/main" val="1112202261"/>
                  </a:ext>
                </a:extLst>
              </a:tr>
              <a:tr h="224497">
                <a:tc>
                  <a:txBody>
                    <a:bodyPr/>
                    <a:lstStyle/>
                    <a:p>
                      <a:pPr algn="ctr" fontAlgn="b">
                        <a:buNone/>
                      </a:pPr>
                      <a:r>
                        <a:rPr lang="en-GB" sz="1000" b="1" u="none" strike="noStrike" dirty="0">
                          <a:effectLst/>
                          <a:latin typeface="Aptos Display" panose="020B0004020202020204" pitchFamily="34" charset="0"/>
                        </a:rPr>
                        <a:t>Pakistan</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dirty="0">
                          <a:effectLst/>
                          <a:latin typeface="Aptos Display" panose="020B0004020202020204" pitchFamily="34" charset="0"/>
                        </a:rPr>
                        <a:t>112</a:t>
                      </a:r>
                      <a:endParaRPr lang="en-GB" sz="1000" b="0"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67</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a:effectLst/>
                          <a:latin typeface="Aptos Display" panose="020B0004020202020204" pitchFamily="34" charset="0"/>
                        </a:rPr>
                        <a:t>45</a:t>
                      </a:r>
                      <a:endParaRPr lang="en-GB" sz="1000" b="1" i="0" u="none" strike="noStrike">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3054089788"/>
                  </a:ext>
                </a:extLst>
              </a:tr>
              <a:tr h="224497">
                <a:tc>
                  <a:txBody>
                    <a:bodyPr/>
                    <a:lstStyle/>
                    <a:p>
                      <a:pPr algn="ctr" fontAlgn="b">
                        <a:buNone/>
                      </a:pPr>
                      <a:r>
                        <a:rPr lang="en-GB" sz="1000" b="1" u="none" strike="noStrike" dirty="0">
                          <a:effectLst/>
                          <a:latin typeface="Aptos Display" panose="020B0004020202020204" pitchFamily="34" charset="0"/>
                        </a:rPr>
                        <a:t>Kosovo</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dirty="0">
                          <a:effectLst/>
                          <a:latin typeface="Aptos Display" panose="020B0004020202020204" pitchFamily="34" charset="0"/>
                        </a:rPr>
                        <a:t>90</a:t>
                      </a:r>
                      <a:endParaRPr lang="en-GB" sz="1000" b="0"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46</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dirty="0">
                          <a:effectLst/>
                          <a:latin typeface="Aptos Display" panose="020B0004020202020204" pitchFamily="34" charset="0"/>
                        </a:rPr>
                        <a:t>44</a:t>
                      </a:r>
                      <a:endParaRPr lang="en-GB" sz="1000" b="1" i="0" u="none" strike="noStrike" dirty="0">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1227653484"/>
                  </a:ext>
                </a:extLst>
              </a:tr>
              <a:tr h="224497">
                <a:tc>
                  <a:txBody>
                    <a:bodyPr/>
                    <a:lstStyle/>
                    <a:p>
                      <a:pPr algn="ctr" fontAlgn="b">
                        <a:buNone/>
                      </a:pPr>
                      <a:r>
                        <a:rPr lang="en-GB" sz="1000" b="1" u="none" strike="noStrike" dirty="0">
                          <a:effectLst/>
                          <a:latin typeface="Aptos Display" panose="020B0004020202020204" pitchFamily="34" charset="0"/>
                        </a:rPr>
                        <a:t>Somalia</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dirty="0">
                          <a:effectLst/>
                          <a:latin typeface="Aptos Display" panose="020B0004020202020204" pitchFamily="34" charset="0"/>
                        </a:rPr>
                        <a:t>156</a:t>
                      </a:r>
                      <a:endParaRPr lang="en-GB" sz="1000" b="0"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112</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a:effectLst/>
                          <a:latin typeface="Aptos Display" panose="020B0004020202020204" pitchFamily="34" charset="0"/>
                        </a:rPr>
                        <a:t>44</a:t>
                      </a:r>
                      <a:endParaRPr lang="en-GB" sz="1000" b="1" i="0" u="none" strike="noStrike">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1165030883"/>
                  </a:ext>
                </a:extLst>
              </a:tr>
              <a:tr h="224497">
                <a:tc>
                  <a:txBody>
                    <a:bodyPr/>
                    <a:lstStyle/>
                    <a:p>
                      <a:pPr algn="ctr" fontAlgn="b">
                        <a:buNone/>
                      </a:pPr>
                      <a:r>
                        <a:rPr lang="en-GB" sz="1000" b="1" u="none" strike="noStrike" dirty="0">
                          <a:effectLst/>
                          <a:latin typeface="Aptos Display" panose="020B0004020202020204" pitchFamily="34" charset="0"/>
                        </a:rPr>
                        <a:t>Gabon</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dirty="0">
                          <a:effectLst/>
                          <a:latin typeface="Aptos Display" panose="020B0004020202020204" pitchFamily="34" charset="0"/>
                        </a:rPr>
                        <a:t>61</a:t>
                      </a:r>
                      <a:endParaRPr lang="en-GB" sz="1000" b="0"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104</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a:effectLst/>
                          <a:latin typeface="Aptos Display" panose="020B0004020202020204" pitchFamily="34" charset="0"/>
                        </a:rPr>
                        <a:t>43</a:t>
                      </a:r>
                      <a:endParaRPr lang="en-GB" sz="1000" b="1" i="0" u="none" strike="noStrike">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501601033"/>
                  </a:ext>
                </a:extLst>
              </a:tr>
              <a:tr h="224497">
                <a:tc>
                  <a:txBody>
                    <a:bodyPr/>
                    <a:lstStyle/>
                    <a:p>
                      <a:pPr algn="ctr" fontAlgn="b">
                        <a:buNone/>
                      </a:pPr>
                      <a:r>
                        <a:rPr lang="en-GB" sz="1000" b="1" u="none" strike="noStrike" dirty="0">
                          <a:effectLst/>
                          <a:latin typeface="Aptos Display" panose="020B0004020202020204" pitchFamily="34" charset="0"/>
                        </a:rPr>
                        <a:t>Bolivia</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103</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dirty="0">
                          <a:effectLst/>
                          <a:latin typeface="Aptos Display" panose="020B0004020202020204" pitchFamily="34" charset="0"/>
                        </a:rPr>
                        <a:t>61</a:t>
                      </a:r>
                      <a:endParaRPr lang="en-GB" sz="1000" b="0"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a:effectLst/>
                          <a:latin typeface="Aptos Display" panose="020B0004020202020204" pitchFamily="34" charset="0"/>
                        </a:rPr>
                        <a:t>42</a:t>
                      </a:r>
                      <a:endParaRPr lang="en-GB" sz="1000" b="1" i="0" u="none" strike="noStrike">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2358949308"/>
                  </a:ext>
                </a:extLst>
              </a:tr>
              <a:tr h="224497">
                <a:tc>
                  <a:txBody>
                    <a:bodyPr/>
                    <a:lstStyle/>
                    <a:p>
                      <a:pPr algn="ctr" fontAlgn="b">
                        <a:buNone/>
                      </a:pPr>
                      <a:r>
                        <a:rPr lang="en-GB" sz="1000" b="1" u="none" strike="noStrike" dirty="0">
                          <a:effectLst/>
                          <a:latin typeface="Aptos Display" panose="020B0004020202020204" pitchFamily="34" charset="0"/>
                        </a:rPr>
                        <a:t>Brazil</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72</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dirty="0">
                          <a:effectLst/>
                          <a:latin typeface="Aptos Display" panose="020B0004020202020204" pitchFamily="34" charset="0"/>
                        </a:rPr>
                        <a:t>32</a:t>
                      </a:r>
                      <a:endParaRPr lang="en-GB" sz="1000" b="0"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dirty="0">
                          <a:effectLst/>
                          <a:latin typeface="Aptos Display" panose="020B0004020202020204" pitchFamily="34" charset="0"/>
                        </a:rPr>
                        <a:t>40</a:t>
                      </a:r>
                      <a:endParaRPr lang="en-GB" sz="1000" b="1" i="0" u="none" strike="noStrike" dirty="0">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3985635629"/>
                  </a:ext>
                </a:extLst>
              </a:tr>
              <a:tr h="224497">
                <a:tc>
                  <a:txBody>
                    <a:bodyPr/>
                    <a:lstStyle/>
                    <a:p>
                      <a:pPr algn="ctr" fontAlgn="b">
                        <a:buNone/>
                      </a:pPr>
                      <a:r>
                        <a:rPr lang="en-GB" sz="1000" b="1" u="none" strike="noStrike" dirty="0">
                          <a:effectLst/>
                          <a:latin typeface="Aptos Display" panose="020B0004020202020204" pitchFamily="34" charset="0"/>
                        </a:rPr>
                        <a:t>Bulgaria</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57</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97</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dirty="0">
                          <a:effectLst/>
                          <a:latin typeface="Aptos Display" panose="020B0004020202020204" pitchFamily="34" charset="0"/>
                        </a:rPr>
                        <a:t>40</a:t>
                      </a:r>
                      <a:endParaRPr lang="en-GB" sz="1000" b="1" i="0" u="none" strike="noStrike" dirty="0">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871993110"/>
                  </a:ext>
                </a:extLst>
              </a:tr>
              <a:tr h="224497">
                <a:tc>
                  <a:txBody>
                    <a:bodyPr/>
                    <a:lstStyle/>
                    <a:p>
                      <a:pPr algn="ctr" fontAlgn="b">
                        <a:buNone/>
                      </a:pPr>
                      <a:r>
                        <a:rPr lang="en-GB" sz="1000" b="1" u="none" strike="noStrike" dirty="0">
                          <a:effectLst/>
                          <a:latin typeface="Aptos Display" panose="020B0004020202020204" pitchFamily="34" charset="0"/>
                        </a:rPr>
                        <a:t>Jamaica</a:t>
                      </a:r>
                      <a:endParaRPr lang="en-GB" sz="1000" b="1" i="0" u="none" strike="noStrike" dirty="0">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95</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0" u="none" strike="noStrike">
                          <a:effectLst/>
                          <a:latin typeface="Aptos Display" panose="020B0004020202020204" pitchFamily="34" charset="0"/>
                        </a:rPr>
                        <a:t>55</a:t>
                      </a:r>
                      <a:endParaRPr lang="en-GB" sz="1000" b="0" i="0" u="none" strike="noStrike">
                        <a:solidFill>
                          <a:srgbClr val="000000"/>
                        </a:solidFill>
                        <a:effectLst/>
                        <a:latin typeface="Aptos Display" panose="020B0004020202020204" pitchFamily="34" charset="0"/>
                      </a:endParaRPr>
                    </a:p>
                  </a:txBody>
                  <a:tcPr marL="6031" marR="6031" marT="6031" marB="0" anchor="b"/>
                </a:tc>
                <a:tc>
                  <a:txBody>
                    <a:bodyPr/>
                    <a:lstStyle/>
                    <a:p>
                      <a:pPr algn="ctr" fontAlgn="b">
                        <a:buNone/>
                      </a:pPr>
                      <a:r>
                        <a:rPr lang="en-GB" sz="1000" b="1" u="none" strike="noStrike" dirty="0">
                          <a:effectLst/>
                          <a:latin typeface="Aptos Display" panose="020B0004020202020204" pitchFamily="34" charset="0"/>
                        </a:rPr>
                        <a:t>40</a:t>
                      </a:r>
                      <a:endParaRPr lang="en-GB" sz="1000" b="1" i="0" u="none" strike="noStrike" dirty="0">
                        <a:solidFill>
                          <a:srgbClr val="000000"/>
                        </a:solidFill>
                        <a:effectLst/>
                        <a:latin typeface="Aptos Display" panose="020B0004020202020204" pitchFamily="34" charset="0"/>
                      </a:endParaRPr>
                    </a:p>
                  </a:txBody>
                  <a:tcPr marL="6031" marR="6031" marT="6031" marB="0" anchor="b"/>
                </a:tc>
                <a:extLst>
                  <a:ext uri="{0D108BD9-81ED-4DB2-BD59-A6C34878D82A}">
                    <a16:rowId xmlns:a16="http://schemas.microsoft.com/office/drawing/2014/main" val="907460577"/>
                  </a:ext>
                </a:extLst>
              </a:tr>
            </a:tbl>
          </a:graphicData>
        </a:graphic>
      </p:graphicFrame>
    </p:spTree>
    <p:extLst>
      <p:ext uri="{BB962C8B-B14F-4D97-AF65-F5344CB8AC3E}">
        <p14:creationId xmlns:p14="http://schemas.microsoft.com/office/powerpoint/2010/main" val="602491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9660B53D-9E23-432C-85CF-02B00FB26FCB}"/>
              </a:ext>
            </a:extLst>
          </p:cNvPr>
          <p:cNvGraphicFramePr>
            <a:graphicFrameLocks/>
          </p:cNvGraphicFramePr>
          <p:nvPr>
            <p:extLst>
              <p:ext uri="{D42A27DB-BD31-4B8C-83A1-F6EECF244321}">
                <p14:modId xmlns:p14="http://schemas.microsoft.com/office/powerpoint/2010/main" val="4135848781"/>
              </p:ext>
            </p:extLst>
          </p:nvPr>
        </p:nvGraphicFramePr>
        <p:xfrm>
          <a:off x="3124749" y="560467"/>
          <a:ext cx="7376495" cy="5737065"/>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7DF0CD3F-77C5-A4AD-EBD2-46F1B5E90D72}"/>
              </a:ext>
            </a:extLst>
          </p:cNvPr>
          <p:cNvSpPr txBox="1"/>
          <p:nvPr/>
        </p:nvSpPr>
        <p:spPr>
          <a:xfrm>
            <a:off x="289552" y="1776053"/>
            <a:ext cx="2953608" cy="2800767"/>
          </a:xfrm>
          <a:prstGeom prst="rect">
            <a:avLst/>
          </a:prstGeom>
          <a:noFill/>
        </p:spPr>
        <p:txBody>
          <a:bodyPr wrap="square" rtlCol="0">
            <a:spAutoFit/>
          </a:bodyPr>
          <a:lstStyle/>
          <a:p>
            <a:pPr algn="ctr"/>
            <a:r>
              <a:rPr lang="en-GB" sz="4400" b="1" dirty="0">
                <a:latin typeface="Aptos Display" panose="020B0004020202020204" pitchFamily="34" charset="0"/>
              </a:rPr>
              <a:t>GDP Rank </a:t>
            </a:r>
          </a:p>
          <a:p>
            <a:pPr algn="ctr"/>
            <a:r>
              <a:rPr lang="en-GB" sz="4400" b="1" dirty="0">
                <a:latin typeface="Aptos Display" panose="020B0004020202020204" pitchFamily="34" charset="0"/>
              </a:rPr>
              <a:t>vs Happiness Rank</a:t>
            </a:r>
          </a:p>
        </p:txBody>
      </p:sp>
    </p:spTree>
    <p:extLst>
      <p:ext uri="{BB962C8B-B14F-4D97-AF65-F5344CB8AC3E}">
        <p14:creationId xmlns:p14="http://schemas.microsoft.com/office/powerpoint/2010/main" val="2233437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7F83EF-AC0D-89F0-E8B2-03A6D7EFE5E8}"/>
              </a:ext>
            </a:extLst>
          </p:cNvPr>
          <p:cNvSpPr txBox="1"/>
          <p:nvPr/>
        </p:nvSpPr>
        <p:spPr>
          <a:xfrm>
            <a:off x="1251046" y="356638"/>
            <a:ext cx="9689907" cy="769441"/>
          </a:xfrm>
          <a:prstGeom prst="rect">
            <a:avLst/>
          </a:prstGeom>
          <a:noFill/>
        </p:spPr>
        <p:txBody>
          <a:bodyPr wrap="square" rtlCol="0">
            <a:spAutoFit/>
          </a:bodyPr>
          <a:lstStyle/>
          <a:p>
            <a:pPr algn="ctr"/>
            <a:r>
              <a:rPr lang="en-GB" sz="4400" b="1" dirty="0">
                <a:latin typeface="Aptos Display" panose="020B0004020202020204" pitchFamily="34" charset="0"/>
              </a:rPr>
              <a:t>Happiness Category Distribution</a:t>
            </a:r>
          </a:p>
        </p:txBody>
      </p:sp>
      <p:graphicFrame>
        <p:nvGraphicFramePr>
          <p:cNvPr id="4" name="Chart 3">
            <a:extLst>
              <a:ext uri="{FF2B5EF4-FFF2-40B4-BE49-F238E27FC236}">
                <a16:creationId xmlns:a16="http://schemas.microsoft.com/office/drawing/2014/main" id="{B90D113E-E677-4AEF-07BA-EEB7EAF3EF43}"/>
              </a:ext>
            </a:extLst>
          </p:cNvPr>
          <p:cNvGraphicFramePr>
            <a:graphicFrameLocks/>
          </p:cNvGraphicFramePr>
          <p:nvPr>
            <p:extLst>
              <p:ext uri="{D42A27DB-BD31-4B8C-83A1-F6EECF244321}">
                <p14:modId xmlns:p14="http://schemas.microsoft.com/office/powerpoint/2010/main" val="2192562540"/>
              </p:ext>
            </p:extLst>
          </p:nvPr>
        </p:nvGraphicFramePr>
        <p:xfrm>
          <a:off x="2850784" y="1126079"/>
          <a:ext cx="7200900" cy="4408488"/>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7C5D22C0-320B-7B21-040F-E26982083CAB}"/>
              </a:ext>
            </a:extLst>
          </p:cNvPr>
          <p:cNvSpPr txBox="1"/>
          <p:nvPr/>
        </p:nvSpPr>
        <p:spPr>
          <a:xfrm>
            <a:off x="618472" y="1612884"/>
            <a:ext cx="2463618" cy="1077218"/>
          </a:xfrm>
          <a:prstGeom prst="rect">
            <a:avLst/>
          </a:prstGeom>
          <a:noFill/>
        </p:spPr>
        <p:txBody>
          <a:bodyPr wrap="square" rtlCol="0">
            <a:spAutoFit/>
          </a:bodyPr>
          <a:lstStyle/>
          <a:p>
            <a:r>
              <a:rPr lang="en-GB" sz="1600" dirty="0">
                <a:latin typeface="Aptos Display" panose="020B0004020202020204" pitchFamily="34" charset="0"/>
              </a:rPr>
              <a:t>Categories</a:t>
            </a:r>
          </a:p>
          <a:p>
            <a:pPr marL="285750" indent="-285750">
              <a:buClr>
                <a:schemeClr val="accent1"/>
              </a:buClr>
              <a:buFont typeface="Wingdings" panose="05000000000000000000" pitchFamily="2" charset="2"/>
              <a:buChar char="Ø"/>
            </a:pPr>
            <a:r>
              <a:rPr lang="en-GB" sz="1600" dirty="0">
                <a:latin typeface="Aptos Display" panose="020B0004020202020204" pitchFamily="34" charset="0"/>
              </a:rPr>
              <a:t>High score&gt;= 7</a:t>
            </a:r>
          </a:p>
          <a:p>
            <a:pPr marL="285750" indent="-285750">
              <a:buClr>
                <a:schemeClr val="accent1"/>
              </a:buClr>
              <a:buFont typeface="Wingdings" panose="05000000000000000000" pitchFamily="2" charset="2"/>
              <a:buChar char="Ø"/>
            </a:pPr>
            <a:r>
              <a:rPr lang="en-GB" sz="1600" dirty="0">
                <a:latin typeface="Aptos Display" panose="020B0004020202020204" pitchFamily="34" charset="0"/>
              </a:rPr>
              <a:t>Medium score &gt;= 4.5</a:t>
            </a:r>
          </a:p>
          <a:p>
            <a:pPr marL="285750" indent="-285750">
              <a:buClr>
                <a:schemeClr val="accent1"/>
              </a:buClr>
              <a:buFont typeface="Wingdings" panose="05000000000000000000" pitchFamily="2" charset="2"/>
              <a:buChar char="Ø"/>
            </a:pPr>
            <a:r>
              <a:rPr lang="en-GB" sz="1600" dirty="0">
                <a:latin typeface="Aptos Display" panose="020B0004020202020204" pitchFamily="34" charset="0"/>
              </a:rPr>
              <a:t>Low score &lt;=4.4</a:t>
            </a:r>
          </a:p>
        </p:txBody>
      </p:sp>
    </p:spTree>
    <p:extLst>
      <p:ext uri="{BB962C8B-B14F-4D97-AF65-F5344CB8AC3E}">
        <p14:creationId xmlns:p14="http://schemas.microsoft.com/office/powerpoint/2010/main" val="2418215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7D2064-5331-40E4-9C18-B7EA14A54FD7}"/>
              </a:ext>
            </a:extLst>
          </p:cNvPr>
          <p:cNvSpPr txBox="1"/>
          <p:nvPr/>
        </p:nvSpPr>
        <p:spPr>
          <a:xfrm>
            <a:off x="82237" y="1536174"/>
            <a:ext cx="3979943" cy="3785652"/>
          </a:xfrm>
          <a:prstGeom prst="rect">
            <a:avLst/>
          </a:prstGeom>
          <a:noFill/>
        </p:spPr>
        <p:txBody>
          <a:bodyPr wrap="square" rtlCol="0">
            <a:spAutoFit/>
          </a:bodyPr>
          <a:lstStyle/>
          <a:p>
            <a:pPr algn="ctr"/>
            <a:r>
              <a:rPr lang="en-GB" sz="4000" dirty="0">
                <a:latin typeface="Aptos Display" panose="020B0004020202020204" pitchFamily="34" charset="0"/>
              </a:rPr>
              <a:t>Top 5 countries with </a:t>
            </a:r>
            <a:r>
              <a:rPr lang="en-GB" sz="4000" b="1" dirty="0">
                <a:latin typeface="Aptos Display" panose="020B0004020202020204" pitchFamily="34" charset="0"/>
              </a:rPr>
              <a:t>high social support </a:t>
            </a:r>
          </a:p>
          <a:p>
            <a:pPr algn="ctr"/>
            <a:r>
              <a:rPr lang="en-GB" sz="4000" dirty="0">
                <a:latin typeface="Aptos Display" panose="020B0004020202020204" pitchFamily="34" charset="0"/>
              </a:rPr>
              <a:t>&amp; </a:t>
            </a:r>
          </a:p>
          <a:p>
            <a:pPr algn="ctr"/>
            <a:r>
              <a:rPr lang="en-GB" sz="4000" b="1" dirty="0">
                <a:latin typeface="Aptos Display" panose="020B0004020202020204" pitchFamily="34" charset="0"/>
              </a:rPr>
              <a:t>freedom to make life choices </a:t>
            </a:r>
          </a:p>
        </p:txBody>
      </p:sp>
      <p:sp>
        <p:nvSpPr>
          <p:cNvPr id="3" name="Oval 2">
            <a:extLst>
              <a:ext uri="{FF2B5EF4-FFF2-40B4-BE49-F238E27FC236}">
                <a16:creationId xmlns:a16="http://schemas.microsoft.com/office/drawing/2014/main" id="{FF289D3E-6B98-84B7-FE68-60DACC39E2B9}"/>
              </a:ext>
            </a:extLst>
          </p:cNvPr>
          <p:cNvSpPr/>
          <p:nvPr/>
        </p:nvSpPr>
        <p:spPr>
          <a:xfrm>
            <a:off x="4192102" y="586055"/>
            <a:ext cx="4993019" cy="5111798"/>
          </a:xfrm>
          <a:prstGeom prst="ellipse">
            <a:avLst/>
          </a:prstGeom>
          <a:solidFill>
            <a:schemeClr val="accent1">
              <a:lumMod val="40000"/>
              <a:lumOff val="60000"/>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Aptos Display" panose="020B0004020202020204" pitchFamily="34" charset="0"/>
            </a:endParaRPr>
          </a:p>
        </p:txBody>
      </p:sp>
      <p:sp>
        <p:nvSpPr>
          <p:cNvPr id="9" name="Oval 8">
            <a:extLst>
              <a:ext uri="{FF2B5EF4-FFF2-40B4-BE49-F238E27FC236}">
                <a16:creationId xmlns:a16="http://schemas.microsoft.com/office/drawing/2014/main" id="{152B5BB1-19AB-F10D-9D75-217914967411}"/>
              </a:ext>
            </a:extLst>
          </p:cNvPr>
          <p:cNvSpPr/>
          <p:nvPr/>
        </p:nvSpPr>
        <p:spPr>
          <a:xfrm>
            <a:off x="6980800" y="586055"/>
            <a:ext cx="4928329" cy="5180627"/>
          </a:xfrm>
          <a:prstGeom prst="ellipse">
            <a:avLst/>
          </a:prstGeom>
          <a:solidFill>
            <a:schemeClr val="accent1">
              <a:lumMod val="40000"/>
              <a:lumOff val="60000"/>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latin typeface="Aptos Display" panose="020B0004020202020204" pitchFamily="34" charset="0"/>
            </a:endParaRPr>
          </a:p>
        </p:txBody>
      </p:sp>
      <p:sp>
        <p:nvSpPr>
          <p:cNvPr id="10" name="TextBox 9">
            <a:extLst>
              <a:ext uri="{FF2B5EF4-FFF2-40B4-BE49-F238E27FC236}">
                <a16:creationId xmlns:a16="http://schemas.microsoft.com/office/drawing/2014/main" id="{3A15E994-4972-C2E8-4E9E-AC0CD872ABCA}"/>
              </a:ext>
            </a:extLst>
          </p:cNvPr>
          <p:cNvSpPr txBox="1"/>
          <p:nvPr/>
        </p:nvSpPr>
        <p:spPr>
          <a:xfrm>
            <a:off x="7444578" y="2670958"/>
            <a:ext cx="1673108" cy="861774"/>
          </a:xfrm>
          <a:prstGeom prst="rect">
            <a:avLst/>
          </a:prstGeom>
          <a:noFill/>
        </p:spPr>
        <p:txBody>
          <a:bodyPr wrap="square" rtlCol="0">
            <a:spAutoFit/>
          </a:bodyPr>
          <a:lstStyle/>
          <a:p>
            <a:r>
              <a:rPr lang="en-GB" sz="1600" b="1" dirty="0">
                <a:latin typeface="Aptos Display" panose="020B0004020202020204" pitchFamily="34" charset="0"/>
              </a:rPr>
              <a:t>Both top 5 lists</a:t>
            </a:r>
          </a:p>
          <a:p>
            <a:pPr marL="285750" indent="-285750">
              <a:buFont typeface="Wingdings" panose="05000000000000000000" pitchFamily="2" charset="2"/>
              <a:buChar char="Ø"/>
            </a:pPr>
            <a:r>
              <a:rPr lang="en-GB" sz="1600" dirty="0">
                <a:latin typeface="Aptos Display" panose="020B0004020202020204" pitchFamily="34" charset="0"/>
              </a:rPr>
              <a:t>Finland</a:t>
            </a:r>
          </a:p>
          <a:p>
            <a:pPr marL="285750" indent="-285750">
              <a:buFont typeface="Wingdings" panose="05000000000000000000" pitchFamily="2" charset="2"/>
              <a:buChar char="Ø"/>
            </a:pPr>
            <a:r>
              <a:rPr lang="en-GB" sz="1600" dirty="0">
                <a:latin typeface="Aptos Display" panose="020B0004020202020204" pitchFamily="34" charset="0"/>
              </a:rPr>
              <a:t>Norway</a:t>
            </a:r>
          </a:p>
        </p:txBody>
      </p:sp>
      <p:sp>
        <p:nvSpPr>
          <p:cNvPr id="12" name="TextBox 11">
            <a:extLst>
              <a:ext uri="{FF2B5EF4-FFF2-40B4-BE49-F238E27FC236}">
                <a16:creationId xmlns:a16="http://schemas.microsoft.com/office/drawing/2014/main" id="{B5A809C8-AECD-9EAF-AD8C-322E8244ED05}"/>
              </a:ext>
            </a:extLst>
          </p:cNvPr>
          <p:cNvSpPr txBox="1"/>
          <p:nvPr/>
        </p:nvSpPr>
        <p:spPr>
          <a:xfrm>
            <a:off x="4739202" y="2464846"/>
            <a:ext cx="1998749" cy="1354217"/>
          </a:xfrm>
          <a:prstGeom prst="rect">
            <a:avLst/>
          </a:prstGeom>
          <a:noFill/>
        </p:spPr>
        <p:txBody>
          <a:bodyPr wrap="square" rtlCol="0">
            <a:spAutoFit/>
          </a:bodyPr>
          <a:lstStyle/>
          <a:p>
            <a:r>
              <a:rPr lang="en-GB" sz="1600" b="1" dirty="0">
                <a:latin typeface="Aptos Display" panose="020B0004020202020204" pitchFamily="34" charset="0"/>
              </a:rPr>
              <a:t>Only top 5 Social support</a:t>
            </a:r>
          </a:p>
          <a:p>
            <a:pPr marL="285750" indent="-285750">
              <a:buFont typeface="Wingdings" panose="05000000000000000000" pitchFamily="2" charset="2"/>
              <a:buChar char="Ø"/>
            </a:pPr>
            <a:r>
              <a:rPr lang="en-GB" sz="1600" dirty="0">
                <a:latin typeface="Aptos Display" panose="020B0004020202020204" pitchFamily="34" charset="0"/>
              </a:rPr>
              <a:t>Iceland</a:t>
            </a:r>
          </a:p>
          <a:p>
            <a:pPr marL="285750" indent="-285750">
              <a:buFont typeface="Wingdings" panose="05000000000000000000" pitchFamily="2" charset="2"/>
              <a:buChar char="Ø"/>
            </a:pPr>
            <a:r>
              <a:rPr lang="en-GB" sz="1600" dirty="0">
                <a:latin typeface="Aptos Display" panose="020B0004020202020204" pitchFamily="34" charset="0"/>
              </a:rPr>
              <a:t>Denmark</a:t>
            </a:r>
          </a:p>
          <a:p>
            <a:pPr marL="285750" indent="-285750">
              <a:buFont typeface="Wingdings" panose="05000000000000000000" pitchFamily="2" charset="2"/>
              <a:buChar char="Ø"/>
            </a:pPr>
            <a:r>
              <a:rPr lang="en-GB" sz="1600" dirty="0">
                <a:latin typeface="Aptos Display" panose="020B0004020202020204" pitchFamily="34" charset="0"/>
              </a:rPr>
              <a:t>New Zealand</a:t>
            </a:r>
          </a:p>
        </p:txBody>
      </p:sp>
      <p:sp>
        <p:nvSpPr>
          <p:cNvPr id="14" name="TextBox 13">
            <a:extLst>
              <a:ext uri="{FF2B5EF4-FFF2-40B4-BE49-F238E27FC236}">
                <a16:creationId xmlns:a16="http://schemas.microsoft.com/office/drawing/2014/main" id="{51D2B023-1F5D-E9AD-9F9E-463AA0B7CA30}"/>
              </a:ext>
            </a:extLst>
          </p:cNvPr>
          <p:cNvSpPr txBox="1"/>
          <p:nvPr/>
        </p:nvSpPr>
        <p:spPr>
          <a:xfrm>
            <a:off x="9444964" y="2464846"/>
            <a:ext cx="2221316" cy="1323439"/>
          </a:xfrm>
          <a:prstGeom prst="rect">
            <a:avLst/>
          </a:prstGeom>
          <a:noFill/>
        </p:spPr>
        <p:txBody>
          <a:bodyPr wrap="square" rtlCol="0">
            <a:spAutoFit/>
          </a:bodyPr>
          <a:lstStyle/>
          <a:p>
            <a:r>
              <a:rPr lang="en-GB" sz="1600" b="1" dirty="0">
                <a:latin typeface="Aptos Display" panose="020B0004020202020204" pitchFamily="34" charset="0"/>
              </a:rPr>
              <a:t>Only top 5 Freedom to make life choices</a:t>
            </a:r>
          </a:p>
          <a:p>
            <a:pPr marL="285750" indent="-285750">
              <a:buFont typeface="Wingdings" panose="05000000000000000000" pitchFamily="2" charset="2"/>
              <a:buChar char="Ø"/>
            </a:pPr>
            <a:r>
              <a:rPr lang="en-GB" sz="1600" dirty="0">
                <a:latin typeface="Aptos Display" panose="020B0004020202020204" pitchFamily="34" charset="0"/>
              </a:rPr>
              <a:t>United Arab Emirates</a:t>
            </a:r>
          </a:p>
          <a:p>
            <a:pPr marL="285750" indent="-285750">
              <a:buFont typeface="Wingdings" panose="05000000000000000000" pitchFamily="2" charset="2"/>
              <a:buChar char="Ø"/>
            </a:pPr>
            <a:r>
              <a:rPr lang="en-GB" sz="1600" dirty="0">
                <a:latin typeface="Aptos Display" panose="020B0004020202020204" pitchFamily="34" charset="0"/>
              </a:rPr>
              <a:t>Cambodia</a:t>
            </a:r>
          </a:p>
          <a:p>
            <a:pPr marL="285750" indent="-285750">
              <a:buFont typeface="Wingdings" panose="05000000000000000000" pitchFamily="2" charset="2"/>
              <a:buChar char="Ø"/>
            </a:pPr>
            <a:r>
              <a:rPr lang="en-GB" sz="1600" dirty="0">
                <a:latin typeface="Aptos Display" panose="020B0004020202020204" pitchFamily="34" charset="0"/>
              </a:rPr>
              <a:t>Uzbekistan</a:t>
            </a:r>
          </a:p>
        </p:txBody>
      </p:sp>
    </p:spTree>
    <p:extLst>
      <p:ext uri="{BB962C8B-B14F-4D97-AF65-F5344CB8AC3E}">
        <p14:creationId xmlns:p14="http://schemas.microsoft.com/office/powerpoint/2010/main" val="3196269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E1FDF2-E3E9-5542-6659-2ADA55324B4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DF4A0F74-7040-DEEF-4EA4-79803DDC4C03}"/>
              </a:ext>
            </a:extLst>
          </p:cNvPr>
          <p:cNvSpPr>
            <a:spLocks noGrp="1"/>
          </p:cNvSpPr>
          <p:nvPr>
            <p:ph type="title"/>
          </p:nvPr>
        </p:nvSpPr>
        <p:spPr>
          <a:xfrm>
            <a:off x="492370" y="605896"/>
            <a:ext cx="3084844" cy="5646208"/>
          </a:xfrm>
        </p:spPr>
        <p:txBody>
          <a:bodyPr anchor="ctr">
            <a:normAutofit/>
          </a:bodyPr>
          <a:lstStyle/>
          <a:p>
            <a:r>
              <a:rPr lang="en-GB" sz="3600" dirty="0">
                <a:solidFill>
                  <a:srgbClr val="FFFFFF"/>
                </a:solidFill>
                <a:latin typeface="Aptos Display" panose="020B0004020202020204" pitchFamily="34" charset="0"/>
              </a:rPr>
              <a:t>Key Findings</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 name="TextBox 3">
            <a:extLst>
              <a:ext uri="{FF2B5EF4-FFF2-40B4-BE49-F238E27FC236}">
                <a16:creationId xmlns:a16="http://schemas.microsoft.com/office/drawing/2014/main" id="{D1C05B86-6098-F31B-471D-5990937BE177}"/>
              </a:ext>
            </a:extLst>
          </p:cNvPr>
          <p:cNvSpPr txBox="1"/>
          <p:nvPr/>
        </p:nvSpPr>
        <p:spPr>
          <a:xfrm>
            <a:off x="4513664" y="1657761"/>
            <a:ext cx="6894181" cy="3139321"/>
          </a:xfrm>
          <a:prstGeom prst="rect">
            <a:avLst/>
          </a:prstGeom>
          <a:noFill/>
        </p:spPr>
        <p:txBody>
          <a:bodyPr wrap="square" rtlCol="0">
            <a:spAutoFit/>
          </a:bodyPr>
          <a:lstStyle/>
          <a:p>
            <a:pPr marL="285750" indent="-285750" algn="just">
              <a:buClr>
                <a:schemeClr val="accent1"/>
              </a:buClr>
              <a:buFont typeface="Wingdings" panose="05000000000000000000" pitchFamily="2" charset="2"/>
              <a:buChar char="Ø"/>
            </a:pPr>
            <a:r>
              <a:rPr lang="en-GB" dirty="0">
                <a:latin typeface="Aptos Display" panose="020B0004020202020204" pitchFamily="34" charset="0"/>
              </a:rPr>
              <a:t>The highest happiness scores are associated with GDP per capita, social support, and the freedom to make life choices</a:t>
            </a:r>
          </a:p>
          <a:p>
            <a:pPr algn="just">
              <a:buClr>
                <a:schemeClr val="accent1"/>
              </a:buClr>
            </a:pPr>
            <a:endParaRPr lang="en-GB" dirty="0">
              <a:latin typeface="Aptos Display" panose="020B0004020202020204" pitchFamily="34" charset="0"/>
            </a:endParaRPr>
          </a:p>
          <a:p>
            <a:pPr marL="285750" indent="-285750" algn="just">
              <a:buClr>
                <a:schemeClr val="accent1"/>
              </a:buClr>
              <a:buFont typeface="Wingdings" panose="05000000000000000000" pitchFamily="2" charset="2"/>
              <a:buChar char="Ø"/>
            </a:pPr>
            <a:r>
              <a:rPr lang="en-GB" dirty="0">
                <a:latin typeface="Aptos Display" panose="020B0004020202020204" pitchFamily="34" charset="0"/>
              </a:rPr>
              <a:t>Corruption perception has a direct negative impact on happiness scores</a:t>
            </a:r>
          </a:p>
          <a:p>
            <a:pPr algn="just">
              <a:buClr>
                <a:schemeClr val="accent1"/>
              </a:buClr>
            </a:pPr>
            <a:endParaRPr lang="en-GB" dirty="0">
              <a:latin typeface="Aptos Display" panose="020B0004020202020204" pitchFamily="34" charset="0"/>
            </a:endParaRPr>
          </a:p>
          <a:p>
            <a:pPr marL="285750" indent="-285750" algn="just">
              <a:buClr>
                <a:schemeClr val="accent1"/>
              </a:buClr>
              <a:buFont typeface="Wingdings" panose="05000000000000000000" pitchFamily="2" charset="2"/>
              <a:buChar char="Ø"/>
            </a:pPr>
            <a:r>
              <a:rPr lang="en-GB" dirty="0">
                <a:latin typeface="Aptos Display" panose="020B0004020202020204" pitchFamily="34" charset="0"/>
              </a:rPr>
              <a:t>Healthy life expectancy is another key factor influencing happiness scores</a:t>
            </a:r>
          </a:p>
          <a:p>
            <a:pPr algn="just">
              <a:buClr>
                <a:schemeClr val="accent1"/>
              </a:buClr>
            </a:pPr>
            <a:endParaRPr lang="en-GB" dirty="0">
              <a:latin typeface="Aptos Display" panose="020B0004020202020204" pitchFamily="34" charset="0"/>
            </a:endParaRPr>
          </a:p>
          <a:p>
            <a:pPr marL="285750" indent="-285750" algn="just">
              <a:buClr>
                <a:schemeClr val="accent1"/>
              </a:buClr>
              <a:buFont typeface="Wingdings" panose="05000000000000000000" pitchFamily="2" charset="2"/>
              <a:buChar char="Ø"/>
            </a:pPr>
            <a:r>
              <a:rPr lang="en-GB" dirty="0">
                <a:latin typeface="Aptos Display" panose="020B0004020202020204" pitchFamily="34" charset="0"/>
              </a:rPr>
              <a:t>High levels of social support and the freedom to make life choices are essential for achieving a positive happiness score</a:t>
            </a:r>
          </a:p>
        </p:txBody>
      </p:sp>
    </p:spTree>
    <p:extLst>
      <p:ext uri="{BB962C8B-B14F-4D97-AF65-F5344CB8AC3E}">
        <p14:creationId xmlns:p14="http://schemas.microsoft.com/office/powerpoint/2010/main" val="2013187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BC8E37-021A-EF65-2FE3-4AEF57768293}"/>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CECF0FC6-D57B-48B6-9036-F4FFD91A4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B102C9-139E-D556-ED2F-9F33331B9610}"/>
              </a:ext>
            </a:extLst>
          </p:cNvPr>
          <p:cNvSpPr>
            <a:spLocks noGrp="1"/>
          </p:cNvSpPr>
          <p:nvPr>
            <p:ph type="title"/>
          </p:nvPr>
        </p:nvSpPr>
        <p:spPr>
          <a:xfrm>
            <a:off x="990932" y="286603"/>
            <a:ext cx="6750987" cy="1450757"/>
          </a:xfrm>
        </p:spPr>
        <p:txBody>
          <a:bodyPr>
            <a:normAutofit/>
          </a:bodyPr>
          <a:lstStyle/>
          <a:p>
            <a:r>
              <a:rPr lang="en-GB" dirty="0">
                <a:solidFill>
                  <a:schemeClr val="tx1"/>
                </a:solidFill>
                <a:latin typeface="Aptos Display" panose="020B0004020202020204" pitchFamily="34" charset="0"/>
              </a:rPr>
              <a:t>Recommendations</a:t>
            </a:r>
          </a:p>
        </p:txBody>
      </p:sp>
      <p:sp>
        <p:nvSpPr>
          <p:cNvPr id="3" name="Content Placeholder 2">
            <a:extLst>
              <a:ext uri="{FF2B5EF4-FFF2-40B4-BE49-F238E27FC236}">
                <a16:creationId xmlns:a16="http://schemas.microsoft.com/office/drawing/2014/main" id="{30812B10-96E4-F66B-B299-56F3F480347A}"/>
              </a:ext>
            </a:extLst>
          </p:cNvPr>
          <p:cNvSpPr>
            <a:spLocks noGrp="1"/>
          </p:cNvSpPr>
          <p:nvPr>
            <p:ph idx="1"/>
          </p:nvPr>
        </p:nvSpPr>
        <p:spPr>
          <a:xfrm>
            <a:off x="1044204" y="2023962"/>
            <a:ext cx="6697715" cy="3845131"/>
          </a:xfrm>
        </p:spPr>
        <p:txBody>
          <a:bodyPr>
            <a:normAutofit/>
          </a:bodyPr>
          <a:lstStyle/>
          <a:p>
            <a:pPr>
              <a:buFont typeface="Wingdings" panose="05000000000000000000" pitchFamily="2" charset="2"/>
              <a:buChar char="Ø"/>
            </a:pPr>
            <a:r>
              <a:rPr lang="en-GB" dirty="0">
                <a:latin typeface="Aptos Display" panose="020B0004020202020204" pitchFamily="34" charset="0"/>
              </a:rPr>
              <a:t>Review and strengthen anti-corruption laws to enhance the perception of the country's residents.</a:t>
            </a:r>
          </a:p>
          <a:p>
            <a:pPr>
              <a:buFont typeface="Wingdings" panose="05000000000000000000" pitchFamily="2" charset="2"/>
              <a:buChar char="Ø"/>
            </a:pPr>
            <a:r>
              <a:rPr lang="en-GB" dirty="0">
                <a:latin typeface="Aptos Display" panose="020B0004020202020204" pitchFamily="34" charset="0"/>
              </a:rPr>
              <a:t>Improve social well-being measures and identify areas where policies can be improved for a better quality of life.</a:t>
            </a:r>
          </a:p>
          <a:p>
            <a:pPr>
              <a:buFont typeface="Wingdings" panose="05000000000000000000" pitchFamily="2" charset="2"/>
              <a:buChar char="Ø"/>
            </a:pPr>
            <a:r>
              <a:rPr lang="en-GB" dirty="0">
                <a:latin typeface="Aptos Display" panose="020B0004020202020204" pitchFamily="34" charset="0"/>
              </a:rPr>
              <a:t> Investigate countries with a high GDP per capita but lower happiness scores to determine possible causes. Consider factors such as a lack of social support or high levels of perceived corruption.</a:t>
            </a:r>
          </a:p>
          <a:p>
            <a:pPr>
              <a:buFont typeface="Wingdings" panose="05000000000000000000" pitchFamily="2" charset="2"/>
              <a:buChar char="Ø"/>
            </a:pPr>
            <a:r>
              <a:rPr lang="en-GB" dirty="0">
                <a:latin typeface="Aptos Display" panose="020B0004020202020204" pitchFamily="34" charset="0"/>
              </a:rPr>
              <a:t>Implement some of the proposed policies and conduct a follow-up analysis in the future to compare the results.</a:t>
            </a:r>
          </a:p>
          <a:p>
            <a:pPr marL="201168" lvl="1" indent="0">
              <a:buNone/>
            </a:pPr>
            <a:endParaRPr lang="en-GB" dirty="0">
              <a:latin typeface="Aptos Display" panose="020B0004020202020204" pitchFamily="34" charset="0"/>
            </a:endParaRPr>
          </a:p>
        </p:txBody>
      </p:sp>
      <p:sp>
        <p:nvSpPr>
          <p:cNvPr id="28" name="Rectangle 27">
            <a:extLst>
              <a:ext uri="{FF2B5EF4-FFF2-40B4-BE49-F238E27FC236}">
                <a16:creationId xmlns:a16="http://schemas.microsoft.com/office/drawing/2014/main" id="{717A211C-5863-4303-AC3D-AEBFDF6D6A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4150"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0" name="Rectangle 29">
            <a:extLst>
              <a:ext uri="{FF2B5EF4-FFF2-40B4-BE49-F238E27FC236}">
                <a16:creationId xmlns:a16="http://schemas.microsoft.com/office/drawing/2014/main" id="{087519CD-2FFF-42E3-BB0C-FEAA828BA5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2823"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391888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n illustration of the global population">
            <a:extLst>
              <a:ext uri="{FF2B5EF4-FFF2-40B4-BE49-F238E27FC236}">
                <a16:creationId xmlns:a16="http://schemas.microsoft.com/office/drawing/2014/main" id="{FB2D2949-3B68-22F5-3FBD-A165FAA7903B}"/>
              </a:ext>
            </a:extLst>
          </p:cNvPr>
          <p:cNvPicPr>
            <a:picLocks noChangeAspect="1"/>
          </p:cNvPicPr>
          <p:nvPr/>
        </p:nvPicPr>
        <p:blipFill>
          <a:blip r:embed="rId3">
            <a:alphaModFix amt="50000"/>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11200"/>
                    </a14:imgEffect>
                    <a14:imgEffect>
                      <a14:saturation sat="300000"/>
                    </a14:imgEffect>
                  </a14:imgLayer>
                </a14:imgProps>
              </a:ext>
            </a:extLst>
          </a:blip>
          <a:srcRect/>
          <a:stretch>
            <a:fillRect/>
          </a:stretch>
        </p:blipFill>
        <p:spPr>
          <a:xfrm>
            <a:off x="0" y="9"/>
            <a:ext cx="12191980" cy="6857991"/>
          </a:xfrm>
          <a:prstGeom prst="rect">
            <a:avLst/>
          </a:prstGeom>
        </p:spPr>
      </p:pic>
      <p:sp>
        <p:nvSpPr>
          <p:cNvPr id="4" name="Subtitle 2">
            <a:extLst>
              <a:ext uri="{FF2B5EF4-FFF2-40B4-BE49-F238E27FC236}">
                <a16:creationId xmlns:a16="http://schemas.microsoft.com/office/drawing/2014/main" id="{EDD9F94B-F222-606B-EEF3-E1F337FCF59D}"/>
              </a:ext>
            </a:extLst>
          </p:cNvPr>
          <p:cNvSpPr txBox="1">
            <a:spLocks/>
          </p:cNvSpPr>
          <p:nvPr/>
        </p:nvSpPr>
        <p:spPr>
          <a:xfrm>
            <a:off x="2077081" y="5219708"/>
            <a:ext cx="10058400" cy="1143000"/>
          </a:xfrm>
          <a:prstGeom prst="rect">
            <a:avLst/>
          </a:prstGeom>
        </p:spPr>
        <p:txBody>
          <a:bodyPr>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r>
              <a:rPr lang="en-GB" sz="1600" dirty="0">
                <a:solidFill>
                  <a:schemeClr val="tx1"/>
                </a:solidFill>
                <a:latin typeface="Aptos Display" panose="020B0004020202020204" pitchFamily="34" charset="0"/>
              </a:rPr>
              <a:t>		</a:t>
            </a:r>
            <a:r>
              <a:rPr lang="en-GB" sz="1800" b="1" dirty="0">
                <a:solidFill>
                  <a:schemeClr val="tx1"/>
                </a:solidFill>
                <a:latin typeface="Aptos Display" panose="020B0004020202020204" pitchFamily="34" charset="0"/>
              </a:rPr>
              <a:t>Data Analyst Programme – SQL Project 2</a:t>
            </a:r>
          </a:p>
          <a:p>
            <a:pPr algn="r"/>
            <a:r>
              <a:rPr lang="en-GB" sz="1800" b="1" dirty="0">
                <a:solidFill>
                  <a:schemeClr val="tx1"/>
                </a:solidFill>
                <a:latin typeface="Aptos Display" panose="020B0004020202020204" pitchFamily="34" charset="0"/>
              </a:rPr>
              <a:t>	Jessica Casares – Data Analyst</a:t>
            </a:r>
          </a:p>
          <a:p>
            <a:pPr algn="r"/>
            <a:r>
              <a:rPr lang="en-GB" sz="1800" b="1" dirty="0">
                <a:solidFill>
                  <a:schemeClr val="tx1"/>
                </a:solidFill>
                <a:latin typeface="Aptos Display" panose="020B0004020202020204" pitchFamily="34" charset="0"/>
              </a:rPr>
              <a:t>June 2026</a:t>
            </a:r>
          </a:p>
        </p:txBody>
      </p:sp>
    </p:spTree>
    <p:extLst>
      <p:ext uri="{BB962C8B-B14F-4D97-AF65-F5344CB8AC3E}">
        <p14:creationId xmlns:p14="http://schemas.microsoft.com/office/powerpoint/2010/main" val="4285709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500"/>
                                  </p:stCondLst>
                                  <p:iterate>
                                    <p:tmPct val="10000"/>
                                  </p:iterate>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7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1500"/>
                                  </p:stCondLst>
                                  <p:iterate>
                                    <p:tmPct val="10000"/>
                                  </p:iterate>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7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1653</TotalTime>
  <Words>983</Words>
  <Application>Microsoft Office PowerPoint</Application>
  <PresentationFormat>Widescreen</PresentationFormat>
  <Paragraphs>371</Paragraphs>
  <Slides>19</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Calibri</vt:lpstr>
      <vt:lpstr>Calibri Light</vt:lpstr>
      <vt:lpstr>Wingdings</vt:lpstr>
      <vt:lpstr>Retrospect</vt:lpstr>
      <vt:lpstr>World Happiness Analysis 2019</vt:lpstr>
      <vt:lpstr>Project Brief</vt:lpstr>
      <vt:lpstr>Dataset Overview</vt:lpstr>
      <vt:lpstr>PowerPoint Presentation</vt:lpstr>
      <vt:lpstr>Top 10 Happiest  vs 10 Least Happy Countries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Findings</vt:lpstr>
      <vt:lpstr>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Jessica Casares</dc:creator>
  <cp:lastModifiedBy>Jessica Casares</cp:lastModifiedBy>
  <cp:revision>38</cp:revision>
  <dcterms:created xsi:type="dcterms:W3CDTF">2026-06-30T17:56:42Z</dcterms:created>
  <dcterms:modified xsi:type="dcterms:W3CDTF">2026-07-02T08:54:19Z</dcterms:modified>
</cp:coreProperties>
</file>